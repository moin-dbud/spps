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5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9" r:id="rId14"/>
    <p:sldId id="270" r:id="rId15"/>
    <p:sldId id="271" r:id="rId16"/>
    <p:sldId id="268" r:id="rId17"/>
    <p:sldId id="272" r:id="rId18"/>
    <p:sldId id="278" r:id="rId19"/>
    <p:sldId id="279" r:id="rId20"/>
    <p:sldId id="280" r:id="rId21"/>
    <p:sldId id="281" r:id="rId22"/>
    <p:sldId id="282" r:id="rId23"/>
    <p:sldId id="273" r:id="rId24"/>
    <p:sldId id="283" r:id="rId25"/>
    <p:sldId id="304" r:id="rId26"/>
    <p:sldId id="284" r:id="rId27"/>
    <p:sldId id="285" r:id="rId28"/>
    <p:sldId id="286" r:id="rId29"/>
    <p:sldId id="287" r:id="rId30"/>
    <p:sldId id="274" r:id="rId31"/>
    <p:sldId id="288" r:id="rId32"/>
    <p:sldId id="289" r:id="rId33"/>
    <p:sldId id="290" r:id="rId34"/>
    <p:sldId id="276" r:id="rId35"/>
    <p:sldId id="292" r:id="rId36"/>
    <p:sldId id="291" r:id="rId37"/>
    <p:sldId id="294" r:id="rId38"/>
    <p:sldId id="295" r:id="rId39"/>
    <p:sldId id="296" r:id="rId40"/>
    <p:sldId id="277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5" r:id="rId49"/>
    <p:sldId id="306" r:id="rId5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5747" autoAdjust="0"/>
    <p:restoredTop sz="95497" autoAdjust="0"/>
  </p:normalViewPr>
  <p:slideViewPr>
    <p:cSldViewPr>
      <p:cViewPr>
        <p:scale>
          <a:sx n="100" d="100"/>
          <a:sy n="100" d="100"/>
        </p:scale>
        <p:origin x="-1860" y="-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3468" y="-7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Students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1200</c:v>
                </c:pt>
                <c:pt idx="2">
                  <c:v>1300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Boy's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400</c:v>
                </c:pt>
                <c:pt idx="1">
                  <c:v>500</c:v>
                </c:pt>
                <c:pt idx="2">
                  <c:v>550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Girl's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600</c:v>
                </c:pt>
                <c:pt idx="1">
                  <c:v>700</c:v>
                </c:pt>
                <c:pt idx="2">
                  <c:v>750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6158208"/>
        <c:axId val="286192768"/>
      </c:barChart>
      <c:catAx>
        <c:axId val="286158208"/>
        <c:scaling>
          <c:orientation val="minMax"/>
        </c:scaling>
        <c:delete val="0"/>
        <c:axPos val="b"/>
        <c:majorTickMark val="out"/>
        <c:minorTickMark val="none"/>
        <c:tickLblPos val="nextTo"/>
        <c:crossAx val="286192768"/>
        <c:crossesAt val="0"/>
        <c:auto val="1"/>
        <c:lblAlgn val="ctr"/>
        <c:lblOffset val="100"/>
        <c:noMultiLvlLbl val="0"/>
      </c:catAx>
      <c:valAx>
        <c:axId val="286192768"/>
        <c:scaling>
          <c:orientation val="minMax"/>
          <c:max val="1300"/>
          <c:min val="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286158208"/>
        <c:crosses val="autoZero"/>
        <c:crossBetween val="between"/>
        <c:majorUnit val="100"/>
      </c:valAx>
      <c:spPr>
        <a:noFill/>
        <a:ln w="25400">
          <a:noFill/>
        </a:ln>
      </c:spPr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5B27EE1-52C1-46B0-A1B1-6421A16CC6B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FFAADE2-0C59-4656-86B8-32F2CB902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187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AADE2-0C59-4656-86B8-32F2CB90246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888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AADE2-0C59-4656-86B8-32F2CB90246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989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AADE2-0C59-4656-86B8-32F2CB90246B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861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AADE2-0C59-4656-86B8-32F2CB90246B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720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43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9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7.jpeg"/><Relationship Id="rId4" Type="http://schemas.openxmlformats.org/officeDocument/2006/relationships/image" Target="../media/image86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1.jpeg"/><Relationship Id="rId4" Type="http://schemas.openxmlformats.org/officeDocument/2006/relationships/image" Target="../media/image90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4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8.jpeg"/><Relationship Id="rId4" Type="http://schemas.openxmlformats.org/officeDocument/2006/relationships/image" Target="../media/image97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7" Type="http://schemas.openxmlformats.org/officeDocument/2006/relationships/image" Target="../media/image104.jpe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3.jpeg"/><Relationship Id="rId5" Type="http://schemas.openxmlformats.org/officeDocument/2006/relationships/image" Target="../media/image102.jpeg"/><Relationship Id="rId4" Type="http://schemas.openxmlformats.org/officeDocument/2006/relationships/image" Target="../media/image101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799"/>
            <a:ext cx="7924800" cy="990601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marL="182880" indent="0" algn="ctr">
              <a:buNone/>
            </a:pPr>
            <a:r>
              <a:rPr lang="mr-IN" sz="400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fi +,e +Jh + lkfo=hckbZ Qqys mPp izkFkfed o ek/;fed “kkGk euik] panziqj</a:t>
            </a:r>
            <a:endParaRPr lang="en-IN" sz="400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Kruti Dev 010" pitchFamily="2" charset="0"/>
            </a:endParaRPr>
          </a:p>
        </p:txBody>
      </p:sp>
      <p:pic>
        <p:nvPicPr>
          <p:cNvPr id="1026" name="Picture 2" descr="C:\Users\SFHS\Downloads\WhatsApp Image 2026-02-27 at 13.26.54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4419600" cy="3124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/>
        </p:spPr>
      </p:pic>
      <p:pic>
        <p:nvPicPr>
          <p:cNvPr id="25602" name="Picture 2" descr="C:\Users\SFHS\Downloads\WhatsApp Image 2026-07-29 at 11.53.56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199" y="3429000"/>
            <a:ext cx="4382745" cy="3200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/>
        </p:spPr>
      </p:pic>
      <p:pic>
        <p:nvPicPr>
          <p:cNvPr id="6" name="Picture 5" descr="savitribai-phule-png-download--thumbnail-1672658746"/>
          <p:cNvPicPr/>
          <p:nvPr/>
        </p:nvPicPr>
        <p:blipFill>
          <a:blip r:embed="rId5"/>
          <a:stretch>
            <a:fillRect/>
          </a:stretch>
        </p:blipFill>
        <p:spPr>
          <a:xfrm>
            <a:off x="190499" y="228600"/>
            <a:ext cx="949960" cy="897890"/>
          </a:xfrm>
          <a:prstGeom prst="rect">
            <a:avLst/>
          </a:prstGeom>
        </p:spPr>
      </p:pic>
      <p:pic>
        <p:nvPicPr>
          <p:cNvPr id="7" name="Picture 6" descr="SPHS LOGO"/>
          <p:cNvPicPr/>
          <p:nvPr/>
        </p:nvPicPr>
        <p:blipFill>
          <a:blip r:embed="rId6"/>
          <a:stretch>
            <a:fillRect/>
          </a:stretch>
        </p:blipFill>
        <p:spPr>
          <a:xfrm>
            <a:off x="7978749" y="244792"/>
            <a:ext cx="1052195" cy="9277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95850" y="1923365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"प्रशस्त वर्गखोल्या, सुरक्षित परिसर आणि आधुनिक </a:t>
            </a:r>
            <a:r>
              <a:rPr lang="mr-IN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सुविधा</a:t>
            </a:r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" y="5029200"/>
            <a:ext cx="4038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P .M. 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SHRI </a:t>
            </a:r>
            <a:r>
              <a:rPr lang="en-IN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  <a:r>
              <a:rPr lang="mr-IN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सावित्रीबाई </a:t>
            </a:r>
            <a:r>
              <a:rPr lang="mr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फुले शाळेची इमारत विद्यार्थ्यांच्या सर्वांगीण विकासासाठी सक्षम शैक्षणिक वातावरण </a:t>
            </a:r>
            <a:r>
              <a:rPr lang="mr-IN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उपलब्ध करून देते."</a:t>
            </a:r>
            <a:endParaRPr lang="en-IN" dirty="0" smtClean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59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305800" cy="780288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48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vH;kldze</a:t>
            </a:r>
            <a:r>
              <a:rPr lang="en-IN" sz="4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] v/;</a:t>
            </a:r>
            <a:r>
              <a:rPr lang="en-IN" sz="48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kiu”kkL</a:t>
            </a:r>
            <a:r>
              <a:rPr lang="en-IN" sz="4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= o </a:t>
            </a:r>
            <a:r>
              <a:rPr lang="en-IN" sz="48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ewY;ekiu</a:t>
            </a:r>
            <a:endParaRPr lang="en-IN" sz="4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Kruti Dev 01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" y="1981200"/>
            <a:ext cx="7239000" cy="49859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 smtClean="0">
                <a:ln/>
                <a:solidFill>
                  <a:schemeClr val="accent3"/>
                </a:solidFill>
              </a:rPr>
              <a:t>Learning outcomes 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e/;s &gt;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kkysyh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izxrh</a:t>
            </a:r>
            <a:r>
              <a:rPr lang="en-IN" sz="2400" b="1" dirty="0" smtClean="0">
                <a:ln/>
                <a:solidFill>
                  <a:schemeClr val="accent3"/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 smtClean="0">
                <a:ln/>
                <a:solidFill>
                  <a:schemeClr val="accent3"/>
                </a:solidFill>
              </a:rPr>
              <a:t>FLN (Foundational Literacy &amp; Numeracy)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ph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vaeyctko.kh]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vuqHkok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/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kkfjr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]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d`rhvk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/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kkfjr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o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izdYik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/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kkfjr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v/;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kiu</a:t>
            </a:r>
            <a:endParaRPr lang="en-IN" sz="2400" b="1" dirty="0" smtClean="0">
              <a:ln/>
              <a:solidFill>
                <a:schemeClr val="accent3"/>
              </a:solidFill>
              <a:latin typeface="Kruti Dev 01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 err="1" smtClean="0">
                <a:ln/>
                <a:solidFill>
                  <a:schemeClr val="accent3"/>
                </a:solidFill>
              </a:rPr>
              <a:t>Compctency</a:t>
            </a:r>
            <a:r>
              <a:rPr lang="en-IN" sz="2000" b="1" dirty="0" smtClean="0">
                <a:ln/>
                <a:solidFill>
                  <a:schemeClr val="accent3"/>
                </a:solidFill>
              </a:rPr>
              <a:t> based learning </a:t>
            </a:r>
            <a:endParaRPr lang="en-IN" sz="2000" b="1" dirty="0" smtClean="0">
              <a:ln/>
              <a:solidFill>
                <a:schemeClr val="accent3"/>
              </a:solidFill>
              <a:latin typeface="Kruti Dev 01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Lkekos”kd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f”k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{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k.k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</a:t>
            </a:r>
            <a:r>
              <a:rPr lang="en-IN" sz="2000" b="1" dirty="0" smtClean="0">
                <a:ln/>
                <a:solidFill>
                  <a:schemeClr val="accent3"/>
                </a:solidFill>
              </a:rPr>
              <a:t>(CWSN 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]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eqyh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]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oafpr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xV</a:t>
            </a:r>
            <a:r>
              <a:rPr lang="en-IN" sz="2000" b="1" dirty="0" smtClean="0">
                <a:ln/>
                <a:solidFill>
                  <a:schemeClr val="accent3"/>
                </a:solidFill>
              </a:rPr>
              <a:t>)</a:t>
            </a:r>
            <a:r>
              <a:rPr lang="en-IN" sz="2400" b="1" dirty="0" smtClean="0">
                <a:ln/>
                <a:solidFill>
                  <a:schemeClr val="accent3"/>
                </a:solidFill>
              </a:rPr>
              <a:t> 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] </a:t>
            </a:r>
            <a:r>
              <a:rPr lang="en-IN" sz="2000" b="1" dirty="0" smtClean="0">
                <a:ln/>
                <a:solidFill>
                  <a:schemeClr val="accent3"/>
                </a:solidFill>
                <a:latin typeface="+mj-lt"/>
              </a:rPr>
              <a:t>Remedial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+mj-lt"/>
              </a:rPr>
              <a:t> 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o </a:t>
            </a:r>
            <a:r>
              <a:rPr lang="en-IN" sz="2000" b="1" dirty="0" smtClean="0">
                <a:ln/>
                <a:solidFill>
                  <a:schemeClr val="accent3"/>
                </a:solidFill>
                <a:latin typeface="+mj-lt"/>
              </a:rPr>
              <a:t>Enrichment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dk;Zdze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]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fo|kFkhZ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mifLFkrh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o “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kkGk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lksM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.;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kps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izek.k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</a:t>
            </a:r>
            <a:r>
              <a:rPr lang="en-IN" sz="2400" b="1" dirty="0">
                <a:ln/>
                <a:solidFill>
                  <a:schemeClr val="accent3"/>
                </a:solidFill>
              </a:rPr>
              <a:t>(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iVla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[;k </a:t>
            </a:r>
            <a:r>
              <a:rPr lang="en-IN" sz="2400" b="1" dirty="0" err="1" smtClean="0">
                <a:ln/>
                <a:solidFill>
                  <a:schemeClr val="accent3"/>
                </a:solidFill>
                <a:latin typeface="Kruti Dev 010" pitchFamily="2" charset="0"/>
              </a:rPr>
              <a:t>rqyuk</a:t>
            </a:r>
            <a:r>
              <a:rPr lang="en-IN" sz="2400" b="1" dirty="0">
                <a:ln/>
                <a:solidFill>
                  <a:schemeClr val="accent3"/>
                </a:solidFill>
              </a:rPr>
              <a:t> )</a:t>
            </a:r>
            <a:r>
              <a:rPr lang="en-IN" sz="2400" b="1" dirty="0" smtClean="0">
                <a:ln/>
                <a:solidFill>
                  <a:schemeClr val="accent3"/>
                </a:solidFill>
                <a:latin typeface="Kruti Dev 010" pitchFamily="2" charset="0"/>
              </a:rPr>
              <a:t> </a:t>
            </a:r>
            <a:endParaRPr lang="en-IN" sz="2400" b="1" dirty="0">
              <a:ln/>
              <a:solidFill>
                <a:schemeClr val="accent3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b="1" dirty="0" smtClean="0">
              <a:ln/>
              <a:solidFill>
                <a:schemeClr val="accent3"/>
              </a:solidFill>
              <a:latin typeface="Kruti Dev 01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b="1" dirty="0">
              <a:ln/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92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914400"/>
            <a:ext cx="8534399" cy="609600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marL="342900" indent="-342900" algn="ctr"/>
            <a:r>
              <a:rPr lang="mr-IN" sz="440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Learning Outcomes</a:t>
            </a:r>
            <a:endParaRPr lang="en-IN" sz="440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1" y="1981200"/>
            <a:ext cx="2743199" cy="1766047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200400" y="1981200"/>
            <a:ext cx="2895600" cy="1766047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248400" y="1981200"/>
            <a:ext cx="2590800" cy="1752599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419100" y="4267200"/>
            <a:ext cx="8458200" cy="166199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IN" b="1" dirty="0" smtClean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Students </a:t>
            </a:r>
            <a:r>
              <a:rPr lang="en-IN" b="1" dirty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prepared self-made models based on the taught concepts and confidently explained them during the exhibition</a:t>
            </a:r>
            <a:r>
              <a:rPr lang="en-IN" b="1" dirty="0" smtClean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.</a:t>
            </a:r>
            <a:endParaRPr lang="mr-IN" b="1" dirty="0" smtClean="0">
              <a:ln w="11430"/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mr-IN" b="1" dirty="0" smtClean="0">
              <a:ln w="11430"/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mr-IN" sz="1600" b="1" dirty="0" smtClean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विद्यार्थ्यांनी </a:t>
            </a:r>
            <a:r>
              <a:rPr lang="mr-IN" sz="1600" b="1" dirty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शिकवलेल्या घटकांवर आधारित मॉडेल्स तयार करून प्रदर्शनात आत्मविश्वासाने माहिती सादर केली</a:t>
            </a:r>
            <a:r>
              <a:rPr lang="mr-IN" sz="1600" b="1" dirty="0" smtClean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.</a:t>
            </a:r>
          </a:p>
          <a:p>
            <a:endParaRPr lang="en-IN" sz="1600" b="1" dirty="0">
              <a:ln w="11430"/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3976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90600"/>
            <a:ext cx="8305800" cy="704088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32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FLN (Foundational Literacy &amp; Numeracy)</a:t>
            </a:r>
            <a:br>
              <a:rPr lang="mr-IN" sz="32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mr-IN" sz="32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ik;kHkqr lk{kjrk vkf.k la[;kKku</a:t>
            </a:r>
            <a:endParaRPr lang="en-IN" sz="32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1936376"/>
            <a:ext cx="2743200" cy="225462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096000" y="1936376"/>
            <a:ext cx="2665879" cy="2254624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200400" y="1936376"/>
            <a:ext cx="2743200" cy="2254624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82120" y="4648200"/>
            <a:ext cx="83797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"FLN </a:t>
            </a:r>
            <a:r>
              <a:rPr lang="mr-IN" sz="1600" b="1" dirty="0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अंतर्गत विद्यार्थ्यांमध्ये वाचन, लेखन व मूलभूत गणितीय कौशल्ये विकसित करण्यासाठी </a:t>
            </a:r>
            <a:r>
              <a:rPr lang="en-IN" sz="1600" b="1" dirty="0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activity-based learning, TLM, digital learning </a:t>
            </a:r>
            <a:r>
              <a:rPr lang="mr-IN" sz="1600" b="1" dirty="0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आणि </a:t>
            </a:r>
            <a:r>
              <a:rPr lang="en-IN" sz="1600" b="1" dirty="0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learning by doing </a:t>
            </a:r>
            <a:r>
              <a:rPr lang="mr-IN" sz="1600" b="1" dirty="0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या पद्धतींचा प्रभावी वापर </a:t>
            </a:r>
            <a:r>
              <a:rPr lang="mr-IN" sz="1600" b="1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केला </a:t>
            </a:r>
            <a:r>
              <a:rPr lang="mr-IN" sz="1600" b="1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जातो.आणखी </a:t>
            </a:r>
            <a:r>
              <a:rPr lang="mr-IN" sz="1600" b="1" dirty="0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छोटा:"</a:t>
            </a:r>
            <a:r>
              <a:rPr lang="en-IN" sz="1600" b="1" dirty="0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activity-based learning </a:t>
            </a:r>
            <a:r>
              <a:rPr lang="mr-IN" sz="1600" b="1" dirty="0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आणि </a:t>
            </a:r>
            <a:r>
              <a:rPr lang="en-IN" sz="1600" b="1" dirty="0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learning by doing </a:t>
            </a:r>
            <a:r>
              <a:rPr lang="mr-IN" sz="1600" b="1" dirty="0" smtClean="0">
                <a:ln w="1143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द्वारे विद्यार्थ्यांमध्ये वाचन, लेखन व मूलभूत गणितीय कौशल्यांचा प्रभावी विकास केला जातो."</a:t>
            </a:r>
            <a:endParaRPr lang="en-IN" sz="1600" b="1" dirty="0">
              <a:ln w="11430"/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0719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52400"/>
            <a:ext cx="8001000" cy="1219200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400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400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400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400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400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Competency Based Learning</a:t>
            </a:r>
            <a:br>
              <a:rPr lang="en-IN" sz="400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600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vuqHkok</a:t>
            </a:r>
            <a:r>
              <a:rPr lang="en-IN" sz="360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/</a:t>
            </a:r>
            <a:r>
              <a:rPr lang="en-IN" sz="3600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kkfjr</a:t>
            </a:r>
            <a:r>
              <a:rPr lang="en-IN" sz="360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] </a:t>
            </a:r>
            <a:r>
              <a:rPr lang="en-IN" sz="3600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d`rhvk</a:t>
            </a:r>
            <a:r>
              <a:rPr lang="en-IN" sz="360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/</a:t>
            </a:r>
            <a:r>
              <a:rPr lang="en-IN" sz="3600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kkfjr</a:t>
            </a:r>
            <a:r>
              <a:rPr lang="en-IN" sz="360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o </a:t>
            </a:r>
            <a:r>
              <a:rPr lang="en-IN" sz="3600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izdYik</a:t>
            </a:r>
            <a:r>
              <a:rPr lang="en-IN" sz="360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/</a:t>
            </a:r>
            <a:r>
              <a:rPr lang="en-IN" sz="3600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fjr</a:t>
            </a:r>
            <a:r>
              <a:rPr lang="en-IN" sz="360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v/;</a:t>
            </a:r>
            <a:r>
              <a:rPr lang="en-IN" sz="3600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kiu</a:t>
            </a:r>
            <a:endParaRPr lang="en-IN" sz="360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81600" y="1371601"/>
            <a:ext cx="3657600" cy="2190750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1" name="Picture 3" descr="C:\Users\SFHS\Desktop\मानक ४१ ड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800600"/>
            <a:ext cx="4114800" cy="19240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SFHS\Desktop\मानक ३२ ब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3886200" cy="2190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04800" y="4038600"/>
            <a:ext cx="8686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विद्यार्थी केवळ माहिती पाठ न करता, ती प्रत्यक्ष कृतीत वापरण्याची क्षमता विकसित करतात. </a:t>
            </a: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Learning by Doing, Critical Thinking, Problem Solving, </a:t>
            </a:r>
            <a:r>
              <a:rPr lang="mr-IN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आणि </a:t>
            </a: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Real-life Application </a:t>
            </a:r>
            <a:r>
              <a:rPr lang="mr-IN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यावर भर दिला जातो.</a:t>
            </a:r>
            <a:endParaRPr lang="en-IN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04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305800" cy="838200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36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Lkekos'kd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 </a:t>
            </a:r>
            <a:r>
              <a:rPr lang="en-IN" sz="36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f”k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{</a:t>
            </a:r>
            <a:r>
              <a:rPr lang="en-IN" sz="36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k.k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 </a:t>
            </a:r>
            <a:r>
              <a:rPr lang="en-IN" sz="36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Cambria" panose="02040503050406030204" pitchFamily="18" charset="0"/>
                <a:ea typeface="Cambria" panose="02040503050406030204" pitchFamily="18" charset="0"/>
              </a:rPr>
              <a:t>CWSN, </a:t>
            </a:r>
            <a:r>
              <a:rPr lang="en-IN" sz="36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eqyh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]</a:t>
            </a:r>
            <a:r>
              <a:rPr lang="en-IN" sz="36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oafpr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 </a:t>
            </a:r>
            <a:r>
              <a:rPr lang="en-IN" sz="36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xV</a:t>
            </a:r>
            <a:r>
              <a:rPr lang="en-IN" sz="36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Cambria" panose="02040503050406030204" pitchFamily="18" charset="0"/>
                <a:ea typeface="Cambria" panose="02040503050406030204" pitchFamily="18" charset="0"/>
              </a:rPr>
              <a:t> )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 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Cambria" panose="02040503050406030204" pitchFamily="18" charset="0"/>
                <a:ea typeface="Cambria" panose="02040503050406030204" pitchFamily="18" charset="0"/>
              </a:rPr>
              <a:t>Remedial 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o</a:t>
            </a:r>
            <a:r>
              <a:rPr lang="en-IN" sz="36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Cambria" panose="02040503050406030204" pitchFamily="18" charset="0"/>
                <a:ea typeface="Cambria" panose="02040503050406030204" pitchFamily="18" charset="0"/>
              </a:rPr>
              <a:t>Enrichment </a:t>
            </a:r>
            <a:r>
              <a:rPr lang="en-IN" sz="36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dk;ZØe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latin typeface="Kruti Dev 010" pitchFamily="2" charset="0"/>
              </a:rPr>
              <a:t> </a:t>
            </a:r>
            <a:endParaRPr lang="en-IN" sz="36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latin typeface="Kruti Dev 010" pitchFamily="2" charset="0"/>
            </a:endParaRPr>
          </a:p>
        </p:txBody>
      </p:sp>
      <p:pic>
        <p:nvPicPr>
          <p:cNvPr id="3074" name="Picture 2" descr="E:\Downloade\मानक ११९ ई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43000"/>
            <a:ext cx="4394155" cy="22860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Downloade\मानक ८९ अ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4460830" cy="23622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:\Downloade\मानक ३० अ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124201"/>
            <a:ext cx="3657600" cy="269275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0075" y="5786736"/>
            <a:ext cx="792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"Every child learns with equal opportunities, respect, and </a:t>
            </a:r>
            <a:endParaRPr lang="en-IN" dirty="0" smtClean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IN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support 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 an inclusive classroom</a:t>
            </a:r>
            <a:r>
              <a:rPr lang="en-IN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.“</a:t>
            </a:r>
          </a:p>
          <a:p>
            <a:pPr algn="ctr"/>
            <a:r>
              <a:rPr lang="en-IN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"</a:t>
            </a:r>
            <a:r>
              <a:rPr lang="mr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समावेशक शिक्षणाद्वारे प्रत्येक विद्यार्थ्याला समान संधी व आवश्यक सहाय्य दिले जाते."</a:t>
            </a:r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56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90600"/>
            <a:ext cx="7391400" cy="838200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Student Strength</a:t>
            </a:r>
            <a:br>
              <a:rPr lang="en-US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US" sz="36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fo|kFkhZ</a:t>
            </a:r>
            <a:r>
              <a:rPr lang="en-US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US" sz="36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iVla</a:t>
            </a:r>
            <a:r>
              <a:rPr lang="en-US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[;k</a:t>
            </a:r>
            <a:endParaRPr lang="en-IN" sz="36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9453977"/>
              </p:ext>
            </p:extLst>
          </p:nvPr>
        </p:nvGraphicFramePr>
        <p:xfrm>
          <a:off x="457200" y="1935163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735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305800" cy="627888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48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fuiq.k</a:t>
            </a:r>
            <a:r>
              <a:rPr lang="en-IN" sz="4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48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egkjk’Vz</a:t>
            </a:r>
            <a:r>
              <a:rPr lang="en-IN" sz="4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pkp.kh o </a:t>
            </a:r>
            <a:r>
              <a:rPr lang="en-IN" sz="4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PAT</a:t>
            </a:r>
            <a:r>
              <a:rPr lang="en-IN" sz="4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IN" sz="48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ijh</a:t>
            </a:r>
            <a:r>
              <a:rPr lang="en-IN" sz="4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{</a:t>
            </a:r>
            <a:r>
              <a:rPr lang="en-IN" sz="48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kk</a:t>
            </a:r>
            <a:r>
              <a:rPr lang="en-IN" sz="4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48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MsVk</a:t>
            </a:r>
            <a:r>
              <a:rPr lang="en-IN" sz="4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endParaRPr lang="en-IN" sz="4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Kruti Dev 010" pitchFamily="2" charset="0"/>
            </a:endParaRPr>
          </a:p>
        </p:txBody>
      </p:sp>
      <p:pic>
        <p:nvPicPr>
          <p:cNvPr id="1026" name="Picture 2" descr="C:\Users\SFHS\Downloads\WhatsApp Image 2026-07-28 at 12.29.26.jpe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7" b="37784"/>
          <a:stretch/>
        </p:blipFill>
        <p:spPr bwMode="auto">
          <a:xfrm>
            <a:off x="457201" y="1604964"/>
            <a:ext cx="2438400" cy="31345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SFHS\Downloads\WhatsApp Image 2026-07-28 at 12.44.41 (1).jpe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" b="36310"/>
          <a:stretch/>
        </p:blipFill>
        <p:spPr bwMode="auto">
          <a:xfrm>
            <a:off x="3343275" y="1604964"/>
            <a:ext cx="2514600" cy="31154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SFHS\Downloads\WhatsApp Image 2026-07-28 at 12.44.42.jpe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7" b="5676"/>
          <a:stretch/>
        </p:blipFill>
        <p:spPr bwMode="auto">
          <a:xfrm>
            <a:off x="6191250" y="1604964"/>
            <a:ext cx="2428875" cy="31345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4953000"/>
            <a:ext cx="7543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"NIPUN Maharashtra &amp; PAT Assessment – </a:t>
            </a:r>
            <a:r>
              <a:rPr lang="mr-IN" sz="20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विद्यार्थ्यांच्या </a:t>
            </a:r>
            <a:r>
              <a:rPr lang="en-IN" sz="20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Foundational Learning </a:t>
            </a:r>
            <a:r>
              <a:rPr lang="mr-IN" sz="20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आणि </a:t>
            </a:r>
            <a:r>
              <a:rPr lang="en-IN" sz="20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Academic Progress </a:t>
            </a:r>
            <a:r>
              <a:rPr lang="mr-IN" sz="20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चे प्रभावी मूल्यमापन."</a:t>
            </a:r>
            <a:endParaRPr lang="en-IN" sz="20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7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40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Ikk;kHkwr</a:t>
            </a:r>
            <a:r>
              <a:rPr lang="en-IN" sz="40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40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lqfo</a:t>
            </a:r>
            <a:r>
              <a:rPr lang="en-IN" sz="40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/</a:t>
            </a:r>
            <a:r>
              <a:rPr lang="en-IN" sz="40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kk</a:t>
            </a:r>
            <a:r>
              <a:rPr lang="en-IN" sz="40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o </a:t>
            </a:r>
            <a:r>
              <a:rPr lang="en-IN" sz="40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fMftVy</a:t>
            </a:r>
            <a:r>
              <a:rPr lang="en-IN" sz="40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40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f”k</a:t>
            </a:r>
            <a:r>
              <a:rPr lang="en-IN" sz="40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{</a:t>
            </a:r>
            <a:r>
              <a:rPr lang="en-IN" sz="40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k.k</a:t>
            </a:r>
            <a:r>
              <a:rPr lang="en-IN" sz="40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(Infrastructure &amp; technology)</a:t>
            </a:r>
            <a:endParaRPr lang="en-IN" sz="36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Kruti Dev 01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6800" y="1905000"/>
            <a:ext cx="6934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Smart classroom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ICT lab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fMftVy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f”k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{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k.k</a:t>
            </a:r>
            <a:endParaRPr lang="en-IN" sz="24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Kruti Dev 01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QR Code 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vk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/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kkfjr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 v/;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kiu</a:t>
            </a:r>
            <a:endParaRPr lang="en-IN" sz="24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Kruti Dev 01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xzaFkky;kps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vk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/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kqfudhdj.k</a:t>
            </a:r>
            <a:endParaRPr lang="en-IN" sz="24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Kruti Dev 01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foKku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 o xf.kr 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iz;ksx”kkGk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fnO;kax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vuqdwy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lqfo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/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Kruti Dev 010" pitchFamily="2" charset="0"/>
              </a:rPr>
              <a:t>kk</a:t>
            </a:r>
            <a:endParaRPr lang="en-IN" sz="24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Kruti Dev 01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LEP</a:t>
            </a: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5274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0"/>
            <a:ext cx="8153400" cy="914400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Smart classroom</a:t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fMftVy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f”k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{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k.k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3074" name="Picture 2" descr="C:\Users\SFHS\Downloads\WhatsApp Image 2026-07-28 at 14.33.04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1905000"/>
            <a:ext cx="3962400" cy="2667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SFHS\Downloads\WhatsApp Image 2026-02-25 at 12.02.32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925" y="1905000"/>
            <a:ext cx="3886200" cy="2667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09600" y="5181600"/>
            <a:ext cx="78486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"</a:t>
            </a:r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Interactive Panel, Digital Content </a:t>
            </a:r>
            <a:r>
              <a:rPr lang="mr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आणि </a:t>
            </a:r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Audio-Visual </a:t>
            </a:r>
            <a:r>
              <a:rPr lang="mr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साधनांच्या </a:t>
            </a:r>
            <a:r>
              <a:rPr lang="mr-IN" sz="16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माध्यमातून</a:t>
            </a:r>
            <a:r>
              <a:rPr lang="mr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विद्यार्थ्यांचा सहभाग वाढवून गुणवत्तापूर्ण शिक्षण दिले जाते</a:t>
            </a:r>
            <a:r>
              <a:rPr lang="mr-IN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.“</a:t>
            </a:r>
            <a:endParaRPr lang="en-IN" b="1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LdkWyjf”ki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 ] </a:t>
            </a:r>
            <a:r>
              <a:rPr lang="en-IN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NMMS</a:t>
            </a:r>
            <a:r>
              <a:rPr lang="en-IN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+ 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Li/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kkZ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 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ifj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{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kk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 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vkf.k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 10 oh 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P;k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 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fo|kF;kZalkBh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 3 </a:t>
            </a:r>
            <a:r>
              <a:rPr lang="en-IN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"</a:t>
            </a:r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Interactive </a:t>
            </a:r>
            <a:r>
              <a:rPr lang="en-IN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Panel 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ph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 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lqfo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/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kk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 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miyO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/k 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d#u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 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fnyh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 </a:t>
            </a:r>
            <a:r>
              <a:rPr lang="en-IN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vkgs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 +</a:t>
            </a:r>
            <a:endParaRPr lang="en-IN" sz="2000" b="1" dirty="0">
              <a:solidFill>
                <a:schemeClr val="accent4">
                  <a:lumMod val="20000"/>
                  <a:lumOff val="80000"/>
                </a:schemeClr>
              </a:solidFill>
              <a:latin typeface="Kruti Dev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32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624" y="838200"/>
            <a:ext cx="8305800" cy="685800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4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ICT Lab</a:t>
            </a:r>
            <a:endParaRPr lang="en-IN" sz="4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4098" name="Picture 2" descr="C:\Users\SFHS\Downloads\WhatsApp Image 2026-07-28 at 16.06.56 (1)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76400"/>
            <a:ext cx="4114800" cy="2895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SFHS\Downloads\WhatsApp Image 2026-07-28 at 16.06.57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4" y="1752600"/>
            <a:ext cx="4257675" cy="2895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399" y="5181600"/>
            <a:ext cx="83057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i="1" dirty="0"/>
              <a:t>"ICT Lab </a:t>
            </a:r>
            <a:r>
              <a:rPr lang="mr-IN" sz="2000" b="1" i="1" dirty="0"/>
              <a:t>द्वारे ई-लर्निंग, इंटरनेट, शैक्षणिक सॉफ्टवेअर आणि डिजिटल साधनांचा वापर करून प्रभावी व अनुभवाधारित शिक्षण दिले जाते</a:t>
            </a:r>
            <a:r>
              <a:rPr lang="mr-IN" sz="2000" b="1" i="1" dirty="0" smtClean="0"/>
              <a:t>.“</a:t>
            </a:r>
            <a:endParaRPr lang="en-IN" sz="2000" b="1" i="1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i="1" dirty="0" err="1" smtClean="0">
                <a:latin typeface="Kruti Dev 010" pitchFamily="2" charset="0"/>
              </a:rPr>
              <a:t>Lkax.kd</a:t>
            </a:r>
            <a:r>
              <a:rPr lang="en-IN" sz="2400" b="1" i="1" dirty="0" smtClean="0">
                <a:latin typeface="Kruti Dev 010" pitchFamily="2" charset="0"/>
              </a:rPr>
              <a:t> </a:t>
            </a:r>
            <a:r>
              <a:rPr lang="en-IN" sz="2400" b="1" i="1" dirty="0" err="1" smtClean="0">
                <a:latin typeface="Kruti Dev 010" pitchFamily="2" charset="0"/>
              </a:rPr>
              <a:t>Dykl</a:t>
            </a:r>
            <a:r>
              <a:rPr lang="en-IN" sz="2400" b="1" i="1" dirty="0" smtClean="0">
                <a:latin typeface="Kruti Dev 010" pitchFamily="2" charset="0"/>
              </a:rPr>
              <a:t>  </a:t>
            </a:r>
            <a:r>
              <a:rPr lang="en-IN" sz="2400" b="1" i="1" dirty="0" err="1" smtClean="0">
                <a:latin typeface="Kruti Dev 010" pitchFamily="2" charset="0"/>
              </a:rPr>
              <a:t>fu;fer</a:t>
            </a:r>
            <a:r>
              <a:rPr lang="en-IN" sz="2400" b="1" i="1" dirty="0" smtClean="0">
                <a:latin typeface="Kruti Dev 010" pitchFamily="2" charset="0"/>
              </a:rPr>
              <a:t> </a:t>
            </a:r>
            <a:r>
              <a:rPr lang="en-IN" sz="2400" b="1" i="1" dirty="0" err="1" smtClean="0">
                <a:latin typeface="Kruti Dev 010" pitchFamily="2" charset="0"/>
              </a:rPr>
              <a:t>osGki</a:t>
            </a:r>
            <a:r>
              <a:rPr lang="en-IN" sz="2400" b="1" i="1" dirty="0" smtClean="0">
                <a:latin typeface="Kruti Dev 010" pitchFamily="2" charset="0"/>
              </a:rPr>
              <a:t>=</a:t>
            </a:r>
            <a:r>
              <a:rPr lang="en-IN" sz="2400" b="1" i="1" dirty="0" err="1" smtClean="0">
                <a:latin typeface="Kruti Dev 010" pitchFamily="2" charset="0"/>
              </a:rPr>
              <a:t>dkuqlkj</a:t>
            </a:r>
            <a:r>
              <a:rPr lang="en-IN" sz="2400" b="1" i="1" dirty="0" smtClean="0">
                <a:latin typeface="Kruti Dev 010" pitchFamily="2" charset="0"/>
              </a:rPr>
              <a:t> ?</a:t>
            </a:r>
            <a:r>
              <a:rPr lang="en-IN" sz="2400" b="1" i="1" dirty="0" err="1" smtClean="0">
                <a:latin typeface="Kruti Dev 010" pitchFamily="2" charset="0"/>
              </a:rPr>
              <a:t>ksrY;k</a:t>
            </a:r>
            <a:r>
              <a:rPr lang="en-IN" sz="2400" b="1" i="1" dirty="0" smtClean="0">
                <a:latin typeface="Kruti Dev 010" pitchFamily="2" charset="0"/>
              </a:rPr>
              <a:t> </a:t>
            </a:r>
            <a:r>
              <a:rPr lang="en-IN" sz="2400" b="1" i="1" dirty="0" err="1" smtClean="0">
                <a:latin typeface="Kruti Dev 010" pitchFamily="2" charset="0"/>
              </a:rPr>
              <a:t>tkrkr</a:t>
            </a:r>
            <a:r>
              <a:rPr lang="en-IN" sz="2400" b="1" i="1" dirty="0" smtClean="0">
                <a:latin typeface="Kruti Dev 010" pitchFamily="2" charset="0"/>
              </a:rPr>
              <a:t>  + o </a:t>
            </a:r>
            <a:r>
              <a:rPr lang="en-IN" sz="2400" b="1" i="1" dirty="0" err="1" smtClean="0">
                <a:latin typeface="Kruti Dev 010" pitchFamily="2" charset="0"/>
              </a:rPr>
              <a:t>Rka</a:t>
            </a:r>
            <a:r>
              <a:rPr lang="en-IN" sz="2400" b="1" i="1" dirty="0" smtClean="0">
                <a:latin typeface="Kruti Dev 010" pitchFamily="2" charset="0"/>
              </a:rPr>
              <a:t>=</a:t>
            </a:r>
            <a:r>
              <a:rPr lang="en-IN" sz="2400" b="1" i="1" dirty="0" err="1" smtClean="0">
                <a:latin typeface="Kruti Dev 010" pitchFamily="2" charset="0"/>
              </a:rPr>
              <a:t>Lusfg</a:t>
            </a:r>
            <a:r>
              <a:rPr lang="en-IN" sz="2400" b="1" i="1" dirty="0" smtClean="0">
                <a:latin typeface="Kruti Dev 010" pitchFamily="2" charset="0"/>
              </a:rPr>
              <a:t> </a:t>
            </a:r>
            <a:r>
              <a:rPr lang="en-IN" sz="2400" b="1" i="1" dirty="0" err="1" smtClean="0">
                <a:latin typeface="Kruti Dev 010" pitchFamily="2" charset="0"/>
              </a:rPr>
              <a:t>f”k</a:t>
            </a:r>
            <a:r>
              <a:rPr lang="en-IN" sz="2400" b="1" i="1" dirty="0" smtClean="0">
                <a:latin typeface="Kruti Dev 010" pitchFamily="2" charset="0"/>
              </a:rPr>
              <a:t>{</a:t>
            </a:r>
            <a:r>
              <a:rPr lang="en-IN" sz="2400" b="1" i="1" dirty="0" err="1" smtClean="0">
                <a:latin typeface="Kruti Dev 010" pitchFamily="2" charset="0"/>
              </a:rPr>
              <a:t>kd</a:t>
            </a:r>
            <a:r>
              <a:rPr lang="en-IN" sz="2400" b="1" i="1" dirty="0" smtClean="0">
                <a:latin typeface="Kruti Dev 010" pitchFamily="2" charset="0"/>
              </a:rPr>
              <a:t> </a:t>
            </a:r>
            <a:r>
              <a:rPr lang="en-IN" sz="2400" b="1" i="1" dirty="0" err="1" smtClean="0">
                <a:latin typeface="Kruti Dev 010" pitchFamily="2" charset="0"/>
              </a:rPr>
              <a:t>miyO</a:t>
            </a:r>
            <a:r>
              <a:rPr lang="en-IN" sz="2400" b="1" i="1" dirty="0" smtClean="0">
                <a:latin typeface="Kruti Dev 010" pitchFamily="2" charset="0"/>
              </a:rPr>
              <a:t>/k </a:t>
            </a:r>
            <a:r>
              <a:rPr lang="en-IN" sz="2400" b="1" i="1" dirty="0" err="1" smtClean="0">
                <a:latin typeface="Kruti Dev 010" pitchFamily="2" charset="0"/>
              </a:rPr>
              <a:t>d#u</a:t>
            </a:r>
            <a:r>
              <a:rPr lang="en-IN" sz="2400" b="1" i="1" dirty="0" smtClean="0">
                <a:latin typeface="Kruti Dev 010" pitchFamily="2" charset="0"/>
              </a:rPr>
              <a:t> </a:t>
            </a:r>
            <a:r>
              <a:rPr lang="en-IN" sz="2400" b="1" i="1" dirty="0" err="1" smtClean="0">
                <a:latin typeface="Kruti Dev 010" pitchFamily="2" charset="0"/>
              </a:rPr>
              <a:t>fnys</a:t>
            </a:r>
            <a:r>
              <a:rPr lang="en-IN" sz="2400" b="1" i="1" dirty="0" smtClean="0">
                <a:latin typeface="Kruti Dev 010" pitchFamily="2" charset="0"/>
              </a:rPr>
              <a:t> </a:t>
            </a:r>
            <a:r>
              <a:rPr lang="en-IN" sz="2400" b="1" i="1" dirty="0" err="1" smtClean="0">
                <a:latin typeface="Kruti Dev 010" pitchFamily="2" charset="0"/>
              </a:rPr>
              <a:t>vkgssr</a:t>
            </a:r>
            <a:r>
              <a:rPr lang="en-IN" sz="2400" b="1" i="1" dirty="0" smtClean="0">
                <a:latin typeface="Kruti Dev 010" pitchFamily="2" charset="0"/>
              </a:rPr>
              <a:t> +</a:t>
            </a:r>
            <a:endParaRPr lang="en-IN" sz="2400" b="1" i="1" dirty="0">
              <a:latin typeface="Kruti Dev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55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305800" cy="533400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fMftVy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f”k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{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k.k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Kruti Dev 010" pitchFamily="2" charset="0"/>
            </a:endParaRPr>
          </a:p>
        </p:txBody>
      </p:sp>
      <p:pic>
        <p:nvPicPr>
          <p:cNvPr id="5122" name="Picture 2" descr="C:\Users\SFHS\Downloads\WhatsApp Image 2026-07-27 at 13.40.36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3657600" cy="3581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SFHS\Downloads\WhatsApp Image 2026-07-27 at 13.40.37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676400"/>
            <a:ext cx="3581400" cy="3581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5562600"/>
            <a:ext cx="769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"IDEAL Lab </a:t>
            </a:r>
            <a:r>
              <a:rPr lang="mr-IN" sz="2000" b="1" dirty="0"/>
              <a:t>विद्यार्थ्यांमध्ये वैज्ञानिक दृष्टिकोन, समस्या सोडविण्याची क्षमता, नवोपक्रम आणि टीमवर्क विकसित करण्यास प्रोत्साहन देते."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7139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305800" cy="1143000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QR Code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vk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/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kkfjr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v/;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kiu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/>
            </a:r>
            <a:b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</a:b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2290" name="Picture 2" descr="C:\Users\SFHS\Downloads\WhatsApp Image 2026-07-28 at 17.05.51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03" b="3274"/>
          <a:stretch/>
        </p:blipFill>
        <p:spPr bwMode="auto">
          <a:xfrm>
            <a:off x="685800" y="1752600"/>
            <a:ext cx="3733800" cy="3200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12291" name="Picture 3" descr="C:\Users\SFHS\Downloads\WhatsApp Image 2026-07-28 at 17.11.18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43075"/>
            <a:ext cx="3581400" cy="32099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sp>
        <p:nvSpPr>
          <p:cNvPr id="3" name="TextBox 2"/>
          <p:cNvSpPr txBox="1"/>
          <p:nvPr/>
        </p:nvSpPr>
        <p:spPr>
          <a:xfrm>
            <a:off x="504824" y="5467349"/>
            <a:ext cx="8105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QR Code </a:t>
            </a:r>
            <a:r>
              <a:rPr lang="mr-IN" dirty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स्कॅन करून विद्यार्थी </a:t>
            </a:r>
            <a:r>
              <a:rPr lang="en-I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rPr>
              <a:t>Digital Content, Videos, Worksheets </a:t>
            </a:r>
            <a:r>
              <a:rPr lang="mr-IN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rPr>
              <a:t>आणि</a:t>
            </a:r>
            <a:r>
              <a:rPr lang="mr-I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rPr>
              <a:t> </a:t>
            </a:r>
            <a:r>
              <a:rPr lang="en-I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rPr>
              <a:t>Interactive Learning Resources </a:t>
            </a:r>
            <a:r>
              <a:rPr lang="mr-IN" dirty="0">
                <a:solidFill>
                  <a:schemeClr val="accent4">
                    <a:lumMod val="20000"/>
                    <a:lumOff val="80000"/>
                  </a:schemeClr>
                </a:solidFill>
                <a:latin typeface="Kruti Dev 010" pitchFamily="2" charset="0"/>
              </a:rPr>
              <a:t>चा प्रभावी वापर करतात."*</a:t>
            </a:r>
            <a:endParaRPr lang="en-IN" sz="2000" dirty="0">
              <a:solidFill>
                <a:schemeClr val="accent4">
                  <a:lumMod val="20000"/>
                  <a:lumOff val="80000"/>
                </a:schemeClr>
              </a:solidFill>
              <a:latin typeface="Kruti Dev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76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305800" cy="1219200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54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xzaFkky</a:t>
            </a:r>
            <a:r>
              <a:rPr lang="en-IN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;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/>
            </a:r>
            <a:b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</a:b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7170" name="Picture 2" descr="C:\Users\SFHS\Downloads\WhatsApp Image 2026-07-28 at 16.47.48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33550"/>
            <a:ext cx="2946400" cy="22098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78" name="Picture 2" descr="C:\Users\SFHS\Downloads\WhatsApp Image 2026-07-29 at 11.45.27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752600"/>
            <a:ext cx="2895600" cy="22098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79" name="Picture 3" descr="C:\Users\SFHS\Downloads\WhatsApp Image 2026-07-29 at 11.45.28.jpe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3733800" y="1562100"/>
            <a:ext cx="1828800" cy="2552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1000" y="45720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sz="2000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"ग्रंथालय विद्यार्थ्यांमध्ये वाचन संस्कृती, ज्ञानार्जनाची आवड आणि स्वयंअध्ययनाची सवय विकसित करण्यास प्रेरित करते."</a:t>
            </a:r>
            <a:endParaRPr lang="en-IN" sz="2000" i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25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305800" cy="1143000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foKku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o xf.kr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iz;ksx”kkGk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b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</a:b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1267" name="Picture 3" descr="C:\Users\SFHS\Downloads\WhatsApp Image 2026-07-29 at 12.55.55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76400"/>
            <a:ext cx="3267762" cy="2286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953000" y="1676400"/>
            <a:ext cx="3200400" cy="228600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85800" y="4419600"/>
            <a:ext cx="746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b="1" dirty="0"/>
              <a:t>विज्ञान व गणित प्रयोगशाळा विद्यार्थ्यांमध्ये वैज्ञानिक दृष्टीकोन, तार्किक विचार आणि प्रत्यक्ष अनुभवातून शिकण्याची सवय विकसित करते. त्यामुळे शिक्षण अधिक आनंददायी, परिणामकारक आणि गुणवत्तापूर्ण बनते."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7583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38200"/>
            <a:ext cx="8305800" cy="704088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fnO;kax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vuqqdwy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lqfo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/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kk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Kruti Dev 010" pitchFamily="2" charset="0"/>
            </a:endParaRPr>
          </a:p>
        </p:txBody>
      </p:sp>
      <p:pic>
        <p:nvPicPr>
          <p:cNvPr id="6146" name="Picture 2" descr="F:\IMG_20220212_08350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752601"/>
            <a:ext cx="2362200" cy="24384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C:\Users\SFHS\Downloads\WhatsApp Image 2026-07-28 at 16.29.18 (2)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25" y="1752601"/>
            <a:ext cx="2362200" cy="24384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8" name="Picture 2" descr="C:\Users\SFHS\Downloads\WhatsApp Image 2026-07-29 at 15.28.10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1"/>
            <a:ext cx="2492514" cy="25146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2475" y="4876800"/>
            <a:ext cx="7667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sz="2000" b="1" i="1" dirty="0"/>
              <a:t>"रॅम्प, रेलिंग, सुलभ स्वच्छतागृह आणि इतर आवश्यक सुविधांद्वारे दिव्यांग विद्यार्थ्यांच्या शिक्षणाला समान संधी दिली जाते."</a:t>
            </a:r>
            <a:endParaRPr lang="en-IN" sz="2000" b="1" i="1" dirty="0"/>
          </a:p>
        </p:txBody>
      </p:sp>
    </p:spTree>
    <p:extLst>
      <p:ext uri="{BB962C8B-B14F-4D97-AF65-F5344CB8AC3E}">
        <p14:creationId xmlns:p14="http://schemas.microsoft.com/office/powerpoint/2010/main" val="188684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305800" cy="1295400"/>
          </a:xfrm>
        </p:spPr>
        <p:txBody>
          <a:bodyPr>
            <a:norm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45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ekuo</a:t>
            </a:r>
            <a:r>
              <a:rPr lang="en-IN" sz="45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45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lalk</a:t>
            </a:r>
            <a:r>
              <a:rPr lang="en-IN" sz="45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/</a:t>
            </a:r>
            <a:r>
              <a:rPr lang="en-IN" sz="45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ku</a:t>
            </a:r>
            <a:r>
              <a:rPr lang="en-IN" sz="45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45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vkf.k</a:t>
            </a:r>
            <a:r>
              <a:rPr lang="en-IN" sz="45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“</a:t>
            </a:r>
            <a:r>
              <a:rPr lang="en-IN" sz="45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kkys</a:t>
            </a:r>
            <a:r>
              <a:rPr lang="en-IN" sz="45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; </a:t>
            </a:r>
            <a:r>
              <a:rPr lang="en-IN" sz="45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usr`Ro</a:t>
            </a:r>
            <a:endParaRPr lang="en-IN" sz="45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Kruti Dev 01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057400"/>
            <a:ext cx="6890028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f“k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{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kdkaph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eatqj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o 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dk;Zjr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ins-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f“k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{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kdkapk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O;olkf;d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fodkl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-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fo|kFkhZ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dsfaaaaaaaaanzr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miØe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-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okpu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o xf.kr 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izkfo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.;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kr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lq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/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kkj.kk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f”k’;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o`Rrh∕Li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/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kkZ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ijh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{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kkarhy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;”k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ØhMk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o 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LkkaLd`frd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{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ks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=</a:t>
            </a:r>
            <a:r>
              <a:rPr lang="en-IN" sz="2400" b="1" dirty="0" err="1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krhy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;”k-</a:t>
            </a:r>
          </a:p>
          <a:p>
            <a:endParaRPr lang="en-IN" sz="2400" b="1" dirty="0" smtClean="0">
              <a:solidFill>
                <a:schemeClr val="bg2">
                  <a:lumMod val="40000"/>
                  <a:lumOff val="60000"/>
                </a:schemeClr>
              </a:solidFill>
              <a:latin typeface="Kruti Dev 010" pitchFamily="2" charset="0"/>
            </a:endParaRPr>
          </a:p>
          <a:p>
            <a:endParaRPr lang="en-IN" sz="2400" b="1" dirty="0">
              <a:latin typeface="Kruti Dev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305800" cy="1295400"/>
          </a:xfrm>
        </p:spPr>
        <p:txBody>
          <a:bodyPr>
            <a:norm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marL="285750" indent="-285750" algn="ctr">
              <a:lnSpc>
                <a:spcPct val="150000"/>
              </a:lnSpc>
            </a:pPr>
            <a:r>
              <a:rPr lang="en-IN" sz="4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f“k</a:t>
            </a:r>
            <a:r>
              <a:rPr lang="en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{</a:t>
            </a:r>
            <a:r>
              <a:rPr lang="en-IN" sz="4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kdkaph</a:t>
            </a:r>
            <a:r>
              <a:rPr lang="en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4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eatqj</a:t>
            </a:r>
            <a:r>
              <a:rPr lang="en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o </a:t>
            </a:r>
            <a:r>
              <a:rPr lang="en-IN" sz="4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dk;Zjr</a:t>
            </a:r>
            <a:r>
              <a:rPr lang="en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ins-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5400" y="2057400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400" b="1" dirty="0" smtClean="0">
              <a:solidFill>
                <a:schemeClr val="bg2">
                  <a:lumMod val="40000"/>
                  <a:lumOff val="60000"/>
                </a:schemeClr>
              </a:solidFill>
              <a:latin typeface="Kruti Dev 010" pitchFamily="2" charset="0"/>
            </a:endParaRPr>
          </a:p>
          <a:p>
            <a:endParaRPr lang="en-IN" sz="2400" b="1" dirty="0">
              <a:latin typeface="Kruti Dev 010" pitchFamily="2" charset="0"/>
            </a:endParaRPr>
          </a:p>
        </p:txBody>
      </p:sp>
      <p:pic>
        <p:nvPicPr>
          <p:cNvPr id="1026" name="Picture 2" descr="C:\Users\SFHS\Downloads\WhatsApp Image 2026-07-29 at 11.44.37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" b="14881"/>
          <a:stretch/>
        </p:blipFill>
        <p:spPr bwMode="auto">
          <a:xfrm>
            <a:off x="5486400" y="1428750"/>
            <a:ext cx="3048000" cy="43769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SFHS\Downloads\WhatsApp Image 2026-02-25 at 16.51.24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4267200" cy="44295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046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6675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f“k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{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kdkapk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O;olkf;d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fodkl</a:t>
            </a:r>
            <a:r>
              <a:rPr lang="en-IN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-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5362" name="Picture 2" descr="C:\Users\SFHS\Downloads\WhatsApp Image 2026-07-29 at 11.50.59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3962400" cy="2819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5364" name="Picture 4" descr="C:\Users\SFHS\Downloads\WhatsApp Image 2026-07-29 at 13.56.20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495425"/>
            <a:ext cx="3962400" cy="28479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3" name="TextBox 2"/>
          <p:cNvSpPr txBox="1"/>
          <p:nvPr/>
        </p:nvSpPr>
        <p:spPr>
          <a:xfrm>
            <a:off x="762000" y="5029200"/>
            <a:ext cx="746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b="1" dirty="0"/>
              <a:t>"शिक्षक शिक्षण परिषदेत </a:t>
            </a:r>
            <a:r>
              <a:rPr lang="en-IN" b="1" dirty="0"/>
              <a:t>RP </a:t>
            </a:r>
            <a:r>
              <a:rPr lang="mr-IN" b="1" dirty="0"/>
              <a:t>म्हणून </a:t>
            </a:r>
            <a:r>
              <a:rPr lang="en-IN" b="1" dirty="0"/>
              <a:t>Ajay Sir </a:t>
            </a:r>
            <a:r>
              <a:rPr lang="mr-IN" b="1" dirty="0"/>
              <a:t>यांनी </a:t>
            </a:r>
            <a:r>
              <a:rPr lang="en-IN" b="1" dirty="0"/>
              <a:t>Khan Academy </a:t>
            </a:r>
            <a:r>
              <a:rPr lang="mr-IN" b="1" dirty="0"/>
              <a:t>प्लॅटफॉर्मची वैशिष्ट्ये, नोंदणी प्रक्रिया आणि गणित व विज्ञान अध्यापनात त्याचा प्रभावी वापर याविषयी प्रात्यक्षिकासह मार्गदर्शन केले."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6856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5913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fo|kFkhZ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dsfaaaaaaaaanzr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miØe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- 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2531" name="Picture 3" descr="C:\Users\SFHS\Downloads\WhatsApp Image 2026-07-29 at 11.42.39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600199"/>
            <a:ext cx="2667000" cy="231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819775" y="1600199"/>
            <a:ext cx="2895600" cy="2318498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28600" y="1556497"/>
            <a:ext cx="2343149" cy="236220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532" name="Picture 4" descr="C:\Users\SFHS\Downloads\WhatsApp Image 2026-07-29 at 13.50.29.jpe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92" b="10795"/>
          <a:stretch/>
        </p:blipFill>
        <p:spPr bwMode="auto">
          <a:xfrm>
            <a:off x="228600" y="4267200"/>
            <a:ext cx="226314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4" name="Picture 6" descr="C:\Users\SFHS\Downloads\WhatsApp Image 2026-07-29 at 13.50.31.jpe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8" t="22565" r="27048" b="9231"/>
          <a:stretch/>
        </p:blipFill>
        <p:spPr bwMode="auto">
          <a:xfrm>
            <a:off x="5819776" y="4343400"/>
            <a:ext cx="28956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5" name="Picture 7" descr="C:\Users\SFHS\Downloads\WhatsApp Image 2026-07-29 at 14.37.10.jpe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383" y="4343400"/>
            <a:ext cx="2707218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11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305800" cy="1143000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2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okpu</a:t>
            </a:r>
            <a:r>
              <a:rPr lang="en-IN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o xf.kr </a:t>
            </a:r>
            <a:r>
              <a:rPr lang="en-IN" sz="2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izkfo</a:t>
            </a:r>
            <a:r>
              <a:rPr lang="en-IN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.;</a:t>
            </a:r>
            <a:r>
              <a:rPr lang="en-IN" sz="2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kr</a:t>
            </a:r>
            <a:r>
              <a:rPr lang="en-IN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2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lq</a:t>
            </a:r>
            <a:r>
              <a:rPr lang="en-IN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/</a:t>
            </a:r>
            <a:r>
              <a:rPr lang="en-IN" sz="2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kkj.kk</a:t>
            </a:r>
            <a:r>
              <a:rPr lang="en-IN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f”k’;</a:t>
            </a:r>
            <a:r>
              <a:rPr lang="en-IN" sz="2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o`Rrh∕Li</a:t>
            </a:r>
            <a:r>
              <a:rPr lang="en-IN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/</a:t>
            </a:r>
            <a:r>
              <a:rPr lang="en-IN" sz="2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kkZ</a:t>
            </a:r>
            <a:r>
              <a:rPr lang="en-IN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2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ijh</a:t>
            </a:r>
            <a:r>
              <a:rPr lang="en-IN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{</a:t>
            </a:r>
            <a:r>
              <a:rPr lang="en-IN" sz="2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kkarhy</a:t>
            </a:r>
            <a:r>
              <a:rPr lang="en-IN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;”</a:t>
            </a:r>
            <a:r>
              <a:rPr lang="en-IN" sz="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</a:t>
            </a:r>
            <a:endParaRPr lang="en-IN" sz="24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1506" name="Picture 2" descr="C:\Users\SFHS\Downloads\WhatsApp Image 2026-07-29 at 11.46.53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2590800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7" name="Picture 3" descr="C:\Users\SFHS\Downloads\WhatsApp Image 2026-07-29 at 13.48.53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905000"/>
            <a:ext cx="2590801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C:\Users\SFHS\Downloads\WhatsApp Image 2026-07-29 at 14.28.40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905000"/>
            <a:ext cx="2819400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250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54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LkkaLd`frd</a:t>
            </a:r>
            <a:r>
              <a:rPr lang="en-IN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{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ks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=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krhy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;”k-</a:t>
            </a:r>
            <a:b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</a:b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4338" name="Picture 2" descr="C:\Users\SFHS\Downloads\WhatsApp Image 2026-07-29 at 12.28.16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399" y="1600200"/>
            <a:ext cx="3743201" cy="2286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C:\Users\SFHS\Downloads\WhatsApp Image 2026-07-29 at 12.28.17 (2)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81150"/>
            <a:ext cx="3962400" cy="23050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4495800"/>
            <a:ext cx="739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mr-IN" sz="2000" b="1" dirty="0"/>
              <a:t>सांस्कृतिक शालेय क्षेत्रात विद्यार्थ्यांनी विविध कला व उपक्रमांमध्ये उत्स्फूर्त सहभाग घेऊन उल्लेखनीय यश संपादन केले.त्यांच्या कलागुणांना वाव देत शाळेने विविध स्पर्धांमध्ये उत्कृष्ट कामगिरी करून गौरव मिळवला.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3925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Lkekos'kd</a:t>
            </a:r>
            <a:r>
              <a:rPr lang="en-IN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i</a:t>
            </a:r>
            <a:r>
              <a:rPr lang="en-IN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/</a:t>
            </a:r>
            <a:r>
              <a:rPr lang="en-IN" sz="54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nrh</a:t>
            </a:r>
            <a:r>
              <a:rPr lang="en-IN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vkf.k</a:t>
            </a:r>
            <a:r>
              <a:rPr lang="en-IN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fyax</a:t>
            </a:r>
            <a:r>
              <a:rPr lang="en-IN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lekurk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2133600"/>
            <a:ext cx="7171127" cy="2811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POCSO </a:t>
            </a:r>
            <a:r>
              <a:rPr lang="en-IN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tkx#drk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dk;ZØe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]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cky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lja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{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k.k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lferh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]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lqjf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{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kr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rØkj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fuokj.k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O;oLFkk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]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vkjksX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; o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ekufld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leqins”ku</a:t>
            </a:r>
            <a:endParaRPr lang="en-IN" sz="2400" b="1" dirty="0">
              <a:solidFill>
                <a:schemeClr val="bg2">
                  <a:lumMod val="40000"/>
                  <a:lumOff val="60000"/>
                </a:schemeClr>
              </a:solidFill>
              <a:latin typeface="Kruti Dev 01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LoPN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o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lqjf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{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kr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ifjlj</a:t>
            </a:r>
            <a:endParaRPr lang="en-IN" sz="2400" b="1" dirty="0">
              <a:solidFill>
                <a:schemeClr val="bg2">
                  <a:lumMod val="40000"/>
                  <a:lumOff val="60000"/>
                </a:schemeClr>
              </a:solidFill>
              <a:latin typeface="Kruti Dev 01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vkjksX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; o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fd”kksjo;hu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ekxZn”kZu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]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ØhMk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o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usr`Rokr</a:t>
            </a:r>
            <a:r>
              <a:rPr lang="en-IN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 </a:t>
            </a:r>
            <a:r>
              <a:rPr lang="en-IN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Kruti Dev 010" pitchFamily="2" charset="0"/>
              </a:rPr>
              <a:t>lgHkkx</a:t>
            </a:r>
            <a:endParaRPr lang="en-IN" sz="2400" b="1" dirty="0">
              <a:solidFill>
                <a:schemeClr val="bg2">
                  <a:lumMod val="40000"/>
                  <a:lumOff val="60000"/>
                </a:schemeClr>
              </a:solidFill>
              <a:latin typeface="Kruti Dev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83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POCSO 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tkx#drk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dk;ZØe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]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cky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lja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{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k.k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lferh</a:t>
            </a:r>
            <a:r>
              <a:rPr lang="en-IN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]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6386" name="Picture 2" descr="C:\Users\SFHS\Downloads\WhatsApp Image 2026-07-29 at 13.16.31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3640666" cy="327660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7" name="Picture 3" descr="C:\Users\SFHS\Downloads\WhatsApp Image 2026-07-29 at 13.16.31 (1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1" y="1981200"/>
            <a:ext cx="3733800" cy="327660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67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6675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Ckky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lja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{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k.k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lferh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Kruti Dev 01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5257800"/>
            <a:ext cx="76962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mr-IN" b="1" dirty="0"/>
              <a:t>"विद्यार्थ्यांच्या सुरक्षित, सन्मानजनक व भीतीमुक्त शालेय वातावरणासाठी बाल संरक्षण समिती विविध जनजागृती, समुपदेशन व संरक्षणात्मक उपक्रम प्रभावीपणे राबविते</a:t>
            </a:r>
            <a:r>
              <a:rPr lang="mr-IN" b="1" dirty="0" smtClean="0"/>
              <a:t>.“</a:t>
            </a:r>
            <a:endParaRPr lang="en-IN" b="1" dirty="0" smtClean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400" b="1" dirty="0" err="1" smtClean="0">
                <a:latin typeface="Kruti Dev 010" pitchFamily="2" charset="0"/>
              </a:rPr>
              <a:t>f”k</a:t>
            </a:r>
            <a:r>
              <a:rPr lang="en-IN" sz="2400" b="1" dirty="0" smtClean="0">
                <a:latin typeface="Kruti Dev 010" pitchFamily="2" charset="0"/>
              </a:rPr>
              <a:t>{</a:t>
            </a:r>
            <a:r>
              <a:rPr lang="en-IN" sz="2400" b="1" dirty="0" err="1" smtClean="0">
                <a:latin typeface="Kruti Dev 010" pitchFamily="2" charset="0"/>
              </a:rPr>
              <a:t>kd</a:t>
            </a:r>
            <a:r>
              <a:rPr lang="en-IN" sz="2400" b="1" dirty="0" smtClean="0">
                <a:latin typeface="Kruti Dev 010" pitchFamily="2" charset="0"/>
              </a:rPr>
              <a:t> </a:t>
            </a:r>
            <a:r>
              <a:rPr lang="en-IN" sz="2400" b="1" dirty="0" err="1" smtClean="0">
                <a:latin typeface="Kruti Dev 010" pitchFamily="2" charset="0"/>
              </a:rPr>
              <a:t>fo|kF;kZauk</a:t>
            </a:r>
            <a:r>
              <a:rPr lang="en-IN" sz="2400" b="1" dirty="0" smtClean="0">
                <a:latin typeface="Kruti Dev 010" pitchFamily="2" charset="0"/>
              </a:rPr>
              <a:t> </a:t>
            </a:r>
            <a:r>
              <a:rPr lang="en-IN" sz="2400" b="1" dirty="0" err="1" smtClean="0">
                <a:latin typeface="Kruti Dev 010" pitchFamily="2" charset="0"/>
              </a:rPr>
              <a:t>xqM</a:t>
            </a:r>
            <a:r>
              <a:rPr lang="en-IN" sz="2400" b="1" dirty="0" smtClean="0">
                <a:latin typeface="Kruti Dev 010" pitchFamily="2" charset="0"/>
              </a:rPr>
              <a:t> </a:t>
            </a:r>
            <a:r>
              <a:rPr lang="en-IN" sz="2400" b="1" dirty="0" err="1" smtClean="0">
                <a:latin typeface="Kruti Dev 010" pitchFamily="2" charset="0"/>
              </a:rPr>
              <a:t>Vp</a:t>
            </a:r>
            <a:r>
              <a:rPr lang="en-IN" sz="2400" b="1" dirty="0" smtClean="0">
                <a:latin typeface="Kruti Dev 010" pitchFamily="2" charset="0"/>
              </a:rPr>
              <a:t> </a:t>
            </a:r>
            <a:r>
              <a:rPr lang="en-IN" sz="2400" b="1" dirty="0" err="1" smtClean="0">
                <a:latin typeface="Kruti Dev 010" pitchFamily="2" charset="0"/>
              </a:rPr>
              <a:t>cWM</a:t>
            </a:r>
            <a:r>
              <a:rPr lang="en-IN" sz="2400" b="1" dirty="0" smtClean="0">
                <a:latin typeface="Kruti Dev 010" pitchFamily="2" charset="0"/>
              </a:rPr>
              <a:t> </a:t>
            </a:r>
            <a:r>
              <a:rPr lang="en-IN" sz="2400" b="1" dirty="0" err="1" smtClean="0">
                <a:latin typeface="Kruti Dev 010" pitchFamily="2" charset="0"/>
              </a:rPr>
              <a:t>Vp</a:t>
            </a:r>
            <a:r>
              <a:rPr lang="en-IN" sz="2400" b="1" dirty="0" smtClean="0">
                <a:latin typeface="Kruti Dev 010" pitchFamily="2" charset="0"/>
              </a:rPr>
              <a:t> </a:t>
            </a:r>
            <a:r>
              <a:rPr lang="en-IN" sz="2400" b="1" dirty="0" err="1" smtClean="0">
                <a:latin typeface="Kruti Dev 010" pitchFamily="2" charset="0"/>
              </a:rPr>
              <a:t>cn~ny</a:t>
            </a:r>
            <a:r>
              <a:rPr lang="en-IN" sz="2400" b="1" dirty="0" smtClean="0">
                <a:latin typeface="Kruti Dev 010" pitchFamily="2" charset="0"/>
              </a:rPr>
              <a:t> </a:t>
            </a:r>
            <a:r>
              <a:rPr lang="en-IN" sz="2400" b="1" dirty="0" err="1" smtClean="0">
                <a:latin typeface="Kruti Dev 010" pitchFamily="2" charset="0"/>
              </a:rPr>
              <a:t>ekxZn”kZu</a:t>
            </a:r>
            <a:r>
              <a:rPr lang="en-IN" sz="2400" b="1" dirty="0" smtClean="0">
                <a:latin typeface="Kruti Dev 010" pitchFamily="2" charset="0"/>
              </a:rPr>
              <a:t> </a:t>
            </a:r>
            <a:r>
              <a:rPr lang="en-IN" sz="2400" b="1" dirty="0" err="1" smtClean="0">
                <a:latin typeface="Kruti Dev 010" pitchFamily="2" charset="0"/>
              </a:rPr>
              <a:t>djrkauk</a:t>
            </a:r>
            <a:r>
              <a:rPr lang="en-IN" sz="2400" b="1" dirty="0" smtClean="0">
                <a:latin typeface="Kruti Dev 010" pitchFamily="2" charset="0"/>
              </a:rPr>
              <a:t> +</a:t>
            </a:r>
            <a:endParaRPr lang="en-IN" sz="2400" b="1" dirty="0">
              <a:latin typeface="Kruti Dev 010" pitchFamily="2" charset="0"/>
            </a:endParaRPr>
          </a:p>
        </p:txBody>
      </p:sp>
      <p:pic>
        <p:nvPicPr>
          <p:cNvPr id="27650" name="Picture 2" descr="C:\Users\SFHS\Downloads\WhatsApp Image 2026-07-29 at 14.43.40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85925"/>
            <a:ext cx="2971800" cy="272981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1" name="Picture 3" descr="C:\Users\SFHS\Downloads\WhatsApp Image 2026-07-29 at 14.43.26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685925"/>
            <a:ext cx="3102890" cy="272981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15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lqjf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{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kr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rØkj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fuokj.k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O;oLFkk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]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vkjksX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; o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ekufld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leqins”ku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8435" name="Picture 3" descr="C:\Users\SFHS\Downloads\WhatsApp Image 2026-07-29 at 11.53.12.jpe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5" t="7042" r="2926" b="12324"/>
          <a:stretch/>
        </p:blipFill>
        <p:spPr bwMode="auto">
          <a:xfrm>
            <a:off x="456696" y="1905000"/>
            <a:ext cx="3810504" cy="33527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18437" name="Picture 5" descr="C:\Users\SFHS\Desktop\माणक ३६ अ.jpe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3" b="2347"/>
          <a:stretch/>
        </p:blipFill>
        <p:spPr bwMode="auto">
          <a:xfrm>
            <a:off x="4724400" y="1866900"/>
            <a:ext cx="4114800" cy="33908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sp>
        <p:nvSpPr>
          <p:cNvPr id="3" name="TextBox 2"/>
          <p:cNvSpPr txBox="1"/>
          <p:nvPr/>
        </p:nvSpPr>
        <p:spPr>
          <a:xfrm>
            <a:off x="456696" y="5562600"/>
            <a:ext cx="7849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b="1" dirty="0"/>
              <a:t>सुरक्षित तक्रार निवारण व्यवस्था ही विद्यार्थ्यांचे हक्क, सुरक्षितता आणि विश्वास जपणारी महत्त्वाची प्रणाली आहे. यामुळे शाळेत सकारात्मक, सुरक्षित आणि आनंदी वातावरण निर्माण होते."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1758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305800" cy="1219200"/>
          </a:xfrm>
        </p:spPr>
        <p:txBody>
          <a:bodyPr>
            <a:norm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LoPN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o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lqjf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{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kr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ifjlj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0242" name="Picture 2" descr="C:\Users\SFHS\Downloads\WhatsApp Image 2026-07-29 at 11.51.48.jpe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5"/>
          <a:stretch/>
        </p:blipFill>
        <p:spPr bwMode="auto">
          <a:xfrm>
            <a:off x="533400" y="1743074"/>
            <a:ext cx="3200400" cy="231457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 descr="C:\Users\SFHS\Downloads\WhatsApp Image 2026-03-24 at 12.23.18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659395"/>
            <a:ext cx="4572000" cy="481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57200" y="4495800"/>
            <a:ext cx="342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b="1" i="1" dirty="0"/>
              <a:t>"स्वच्छ, सुरक्षित व हरित शालेय परिसर विद्यार्थ्यांना निरोगी, आनंददायी आणि शिक्षणासाठी पोषक वातावरण उपलब्ध करून देतो."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9089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5151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vkjksX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; o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fd”kksjo;hu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ekxZn”kZu</a:t>
            </a:r>
            <a:r>
              <a:rPr lang="en-IN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]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8194" name="Picture 2" descr="C:\Users\SFHS\AppData\Local\Temp\192c6f66-ecf9-443c-958e-1c88a6c5a0f1_WhatsApp Unknown 2026-07-29 at 12.54.02.zip.0f1\WhatsApp Image 2026-07-25 at 15.49.56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3222308" cy="2286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:\Users\SFHS\AppData\Local\Temp\c6eeef84-e095-4523-bf13-cc8e2e4b8283_WhatsApp Unknown 2026-07-29 at 12.54.02.zip.283\WhatsApp Image 2026-07-25 at 15.49.56 (1)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827" y="3962399"/>
            <a:ext cx="3448684" cy="26003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C:\Users\SFHS\Downloads\WhatsApp Image 2026-07-29 at 12.49.25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962399"/>
            <a:ext cx="3222308" cy="2600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9" name="Picture 7" descr="C:\Users\SFHS\Downloads\WhatsApp Image 2026-07-29 at 12.55.32.jpe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827" y="1371600"/>
            <a:ext cx="3448684" cy="2286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98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305800" cy="1219200"/>
          </a:xfrm>
        </p:spPr>
        <p:txBody>
          <a:bodyPr>
            <a:norm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ØhMk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o </a:t>
            </a:r>
            <a:r>
              <a:rPr lang="en-IN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usr`Rokr</a:t>
            </a: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sz="54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lgHkkx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7410" name="Picture 2" descr="C:\Users\SFHS\Downloads\WhatsApp Image 2026-02-25 at 16.20.47 (1).jpe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9" r="11125"/>
          <a:stretch/>
        </p:blipFill>
        <p:spPr bwMode="auto">
          <a:xfrm>
            <a:off x="762000" y="1828800"/>
            <a:ext cx="3733799" cy="2743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4" name="Picture 3" descr="C:\Users\SFHS\Downloads\WhatsApp Image 2026-07-29 at 12.28.18 (1)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828800"/>
            <a:ext cx="3429000" cy="2743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3" name="TextBox 2"/>
          <p:cNvSpPr txBox="1"/>
          <p:nvPr/>
        </p:nvSpPr>
        <p:spPr>
          <a:xfrm>
            <a:off x="762000" y="5105400"/>
            <a:ext cx="754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b="1" i="1" u="sng" dirty="0"/>
              <a:t>"क्रीडा व नेतृत्वातील सक्रिय सहभागामुळे विद्यार्थ्यांमध्ये आत्मविश्वास, शिस्त, संघभावना आणि नेतृत्वगुण विकसित होतात. यामुळे ते निरोगी, जबाबदार आणि यशस्वी नागरिक बनतात."</a:t>
            </a:r>
            <a:endParaRPr lang="en-IN" b="1" i="1" u="sng" dirty="0"/>
          </a:p>
        </p:txBody>
      </p:sp>
    </p:spTree>
    <p:extLst>
      <p:ext uri="{BB962C8B-B14F-4D97-AF65-F5344CB8AC3E}">
        <p14:creationId xmlns:p14="http://schemas.microsoft.com/office/powerpoint/2010/main" val="91237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1447800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32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शिक्षक</a:t>
            </a:r>
            <a:r>
              <a:rPr lang="mr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क्षमता विकास व प्रभावी नेतृत्व 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mr-IN" sz="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(</a:t>
            </a:r>
            <a:r>
              <a:rPr lang="en-IN" sz="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Teacher Capacity Building &amp; School Leadership)</a:t>
            </a:r>
            <a:endParaRPr lang="en-IN" sz="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2133600"/>
            <a:ext cx="5087931" cy="22739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CPD 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प्रशिक्षण, ऑनलाइन प्रशिक्षण सहभाग</a:t>
            </a: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,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शिक्षकाने 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कृतीसंशोधन / नवोपक्रम</a:t>
            </a: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,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शैक्षणिक 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नियोजन.</a:t>
            </a:r>
            <a:endParaRPr lang="en-IN" sz="20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27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743712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CD</a:t>
            </a:r>
            <a:r>
              <a:rPr lang="en-IN" sz="36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</a:t>
            </a:r>
            <a:r>
              <a:rPr lang="en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mr-IN" sz="32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प्रशिक्षण</a:t>
            </a:r>
            <a:r>
              <a:rPr lang="mr-IN" sz="36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, ऑनलाइन प्रशिक्षण सहभाग</a:t>
            </a:r>
            <a:r>
              <a:rPr lang="mr-IN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,</a:t>
            </a:r>
            <a:endParaRPr lang="en-IN" sz="32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4" t="28750" r="26570" b="3333"/>
          <a:stretch/>
        </p:blipFill>
        <p:spPr bwMode="auto">
          <a:xfrm>
            <a:off x="771525" y="2028825"/>
            <a:ext cx="3419475" cy="23907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9459" name="Picture 3" descr="C:\Users\SFHS\Downloads\WhatsApp Image 2026-07-29 at 12.57.47 (1).jpe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0" t="22851" r="4793" b="20570"/>
          <a:stretch/>
        </p:blipFill>
        <p:spPr bwMode="auto">
          <a:xfrm rot="16200000">
            <a:off x="5534028" y="1476374"/>
            <a:ext cx="2286000" cy="344805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C:\Users\SFHS\Downloads\WhatsApp Image 2026-07-29 at 13.52.30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724400"/>
            <a:ext cx="3505200" cy="198120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33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667512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शिक्षकाने कृतीसंशोधन / नवोपक्रम</a:t>
            </a:r>
            <a:r>
              <a:rPr lang="mr-IN" sz="40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,</a:t>
            </a:r>
            <a:endParaRPr lang="en-IN" sz="36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8674" name="Picture 2" descr="C:\Users\SFHS\Downloads\WhatsApp Image 2026-07-29 at 15.08.22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24050"/>
            <a:ext cx="4985359" cy="363931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07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05800" cy="1143000"/>
          </a:xfrm>
        </p:spPr>
        <p:txBody>
          <a:bodyPr>
            <a:norm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4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शैक्षणिक नियोजन</a:t>
            </a:r>
            <a:r>
              <a:rPr lang="mr-IN" sz="4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.</a:t>
            </a:r>
            <a:endParaRPr lang="en-IN" sz="44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026" name="Picture 2" descr="C:\Users\SFHS\Downloads\WhatsApp Image 2026-07-29 at 16.07.12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52600"/>
            <a:ext cx="2590800" cy="3733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SFHS\Downloads\WhatsApp Image 2026-07-29 at 16.07.12 (1)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752600"/>
            <a:ext cx="2514600" cy="3714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SFHS\Downloads\WhatsApp Image 2026-07-29 at 16.07.13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752600"/>
            <a:ext cx="3200400" cy="3714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82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1447800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32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समुदाय सहभाग व उत्तम शालेय व्यवस्थापन </a:t>
            </a:r>
            <a:r>
              <a:rPr lang="en-IN" sz="32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32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(Community Participation &amp; Governance)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133600"/>
            <a:ext cx="6039346" cy="2812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SMC 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ची भूमिका</a:t>
            </a: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,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पालक सहभाग</a:t>
            </a: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,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n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School Development Plan, CSR/NGO 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सहकार्य, 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माजी 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विद्यार्थी सहभाग</a:t>
            </a: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,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सामाजिक संस्थांचे सहकार्य</a:t>
            </a: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,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पारदर्शक व्यवस्थापन</a:t>
            </a:r>
            <a:endParaRPr lang="en-IN" sz="20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3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1447800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marL="285750" indent="-285750" algn="ctr">
              <a:lnSpc>
                <a:spcPct val="150000"/>
              </a:lnSpc>
            </a:pPr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SMC</a:t>
            </a:r>
            <a:r>
              <a:rPr lang="en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mr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ची भूमिका,</a:t>
            </a:r>
            <a:endParaRPr lang="en-IN" sz="4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6626" name="Picture 2" descr="C:\Users\SFHS\Downloads\WhatsApp Image 2026-07-29 at 14.20.52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9" t="24264" r="38867" b="35294"/>
          <a:stretch/>
        </p:blipFill>
        <p:spPr bwMode="auto">
          <a:xfrm>
            <a:off x="1028700" y="1752600"/>
            <a:ext cx="7162800" cy="3200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14400" y="5334000"/>
            <a:ext cx="731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"SMC </a:t>
            </a:r>
            <a:r>
              <a:rPr lang="mr-IN" sz="2000" b="1" dirty="0"/>
              <a:t>शाळेच्या विकास, गुणवत्तापूर्ण शिक्षण, पायाभूत सुविधा, विद्यार्थी कल्याण आणि पालक सहभाग वाढविण्यासाठी सक्रियपणे कार्य करते."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85399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85800"/>
            <a:ext cx="8305800" cy="762000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पालक सहभाग</a:t>
            </a:r>
            <a:r>
              <a:rPr lang="mr-IN" sz="4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,</a:t>
            </a:r>
            <a:endParaRPr lang="en-IN" sz="4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3554" name="Picture 2" descr="C:\Users\SFHS\Downloads\WhatsApp Image 2026-07-29 at 13.20.21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05000"/>
            <a:ext cx="6781800" cy="2057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/>
        </p:spPr>
      </p:pic>
      <p:pic>
        <p:nvPicPr>
          <p:cNvPr id="23555" name="Picture 3" descr="C:\Users\SFHS\Downloads\WhatsApp Image 2026-07-29 at 11.59.39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343400"/>
            <a:ext cx="6781800" cy="1981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308225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5913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माजी </a:t>
            </a:r>
            <a:r>
              <a:rPr lang="mr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विद्यार्थी</a:t>
            </a:r>
            <a:r>
              <a:rPr lang="mr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सहभाग</a:t>
            </a:r>
            <a:r>
              <a:rPr lang="mr-IN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,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9218" name="Picture 2" descr="C:\Users\SFHS\Downloads\WhatsApp Image 2026-07-29 at 12.00.38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78" b="22246"/>
          <a:stretch/>
        </p:blipFill>
        <p:spPr bwMode="auto">
          <a:xfrm>
            <a:off x="762000" y="1600200"/>
            <a:ext cx="3657600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C:\Users\SFHS\Downloads\WhatsApp Image 2026-07-29 at 14.17.43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600200"/>
            <a:ext cx="3429000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53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7437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सामाजिक संस्थांचे सहकार्य</a:t>
            </a:r>
            <a:r>
              <a:rPr lang="mr-IN" sz="4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,</a:t>
            </a:r>
            <a:endParaRPr lang="en-IN" sz="4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3314" name="Picture 2" descr="C:\Users\SFHS\Downloads\WhatsApp Image 2026-07-29 at 12.59.18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600200"/>
            <a:ext cx="3733800" cy="236601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Picture 3" descr="C:\Users\SFHS\Downloads\WhatsApp Image 2026-07-29 at 12.59.48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66875"/>
            <a:ext cx="3657600" cy="228981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SFHS\Downloads\WhatsApp Image 2026-07-29 at 12.36.19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591050"/>
            <a:ext cx="5276850" cy="20383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00100" y="3998595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dirty="0"/>
              <a:t>"</a:t>
            </a:r>
            <a:r>
              <a:rPr lang="mr-IN" b="1" dirty="0"/>
              <a:t>सामाजिक संस्थांच्या सहकार्याने विविध शैक्षणिक, आरोग्य, पर्यावरण व जनजागृतीपर उपक्रम राबवून विद्यार्थ्यांच्या सर्वांगीण विकासाला चालना दिली ."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0111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6675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पारदर्शक </a:t>
            </a:r>
            <a:r>
              <a:rPr lang="mr-IN" sz="4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व्यवस्थापन</a:t>
            </a:r>
            <a:endParaRPr lang="en-IN" sz="4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30722" name="Picture 2" descr="C:\Users\SFHS\Downloads\WhatsApp Image 2026-07-29 at 15.03.37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576388"/>
            <a:ext cx="3289035" cy="33528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3" name="Picture 3" descr="C:\Users\SFHS\Downloads\WhatsApp Image 2026-07-29 at 15.03.36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4" y="1552576"/>
            <a:ext cx="3190875" cy="340042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00075" y="5257800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dirty="0"/>
              <a:t>"</a:t>
            </a:r>
            <a:r>
              <a:rPr lang="mr-IN" sz="2000" b="1" i="1" dirty="0"/>
              <a:t>पारदर्शक व्यवस्थापनासाठी सर्व शालेय नोंदी, आर्थिक व्यवहार, सूचना व निर्णय पालक आणि समाजासमोर खुलेपणाने मांडले जातात."</a:t>
            </a:r>
            <a:endParaRPr lang="en-IN" sz="2000" b="1" i="1" dirty="0"/>
          </a:p>
        </p:txBody>
      </p:sp>
    </p:spTree>
    <p:extLst>
      <p:ext uri="{BB962C8B-B14F-4D97-AF65-F5344CB8AC3E}">
        <p14:creationId xmlns:p14="http://schemas.microsoft.com/office/powerpoint/2010/main" val="223955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1447800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32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समुदाय सहभाग व उत्तम शालेय व्यवस्थापन </a:t>
            </a:r>
            <a:r>
              <a:rPr lang="en-IN" sz="32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32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(Community Participation &amp; Governance)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133600"/>
            <a:ext cx="381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जलसंवर्धन, 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ऊर्जा 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बचत, 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सौरऊर्जा , 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प्लास्टिकमुक्त 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परिसर, 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वृक्षारोपण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, 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कचरा 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व्यवस्थापन, 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Kitchen </a:t>
            </a:r>
            <a:r>
              <a:rPr lang="en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Garden /</a:t>
            </a:r>
            <a:r>
              <a:rPr lang="mr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परसबाग</a:t>
            </a:r>
            <a:r>
              <a:rPr lang="mr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,</a:t>
            </a:r>
            <a:endParaRPr lang="en-IN" sz="20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Eco </a:t>
            </a:r>
            <a:r>
              <a:rPr lang="en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Club, </a:t>
            </a:r>
          </a:p>
        </p:txBody>
      </p:sp>
    </p:spTree>
    <p:extLst>
      <p:ext uri="{BB962C8B-B14F-4D97-AF65-F5344CB8AC3E}">
        <p14:creationId xmlns:p14="http://schemas.microsoft.com/office/powerpoint/2010/main" val="100572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6675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जलसंवर्धन, </a:t>
            </a:r>
            <a:endParaRPr lang="en-IN" sz="4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6146" name="Picture 2" descr="C:\Users\SFHS\Downloads\WhatsApp Image 2025-12-10 at 11.35.26.jpe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3"/>
          <a:stretch/>
        </p:blipFill>
        <p:spPr bwMode="auto">
          <a:xfrm>
            <a:off x="838200" y="1676400"/>
            <a:ext cx="2819400" cy="32004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SFHS\Downloads\WhatsApp Image 2026-07-29 at 12.08.58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676401"/>
            <a:ext cx="3733800" cy="3200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8200" y="5257800"/>
            <a:ext cx="746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sz="2000" b="1" i="1" dirty="0"/>
              <a:t>"पाणी हे अमूल्य नैसर्गिक साधन आहे. पावसाचे पाणी साठवण, पाण्याचा काटकसरीने वापर आणि जनजागृतीद्वारे जलसंवर्धनाला प्रोत्साहन दिले जाते."</a:t>
            </a:r>
            <a:endParaRPr lang="en-IN" sz="2000" b="1" i="1" dirty="0"/>
          </a:p>
        </p:txBody>
      </p:sp>
    </p:spTree>
    <p:extLst>
      <p:ext uri="{BB962C8B-B14F-4D97-AF65-F5344CB8AC3E}">
        <p14:creationId xmlns:p14="http://schemas.microsoft.com/office/powerpoint/2010/main" val="242516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6675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सौरऊर्जा</a:t>
            </a:r>
            <a:endParaRPr lang="en-IN" sz="4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050" name="Picture 2" descr="C:\Users\SFHS\Downloads\WhatsApp Image 2026-07-29 at 12.04.54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1200"/>
            <a:ext cx="3714750" cy="3200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SFHS\Downloads\WhatsApp Image 2026-07-29 at 12.04.55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775" y="1981200"/>
            <a:ext cx="3867150" cy="3200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14400" y="5562600"/>
            <a:ext cx="739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b="1" i="1" dirty="0"/>
              <a:t>- विजेची बचत होते.- पर्यावरण प्रदूषण कमी होते.- विद्यार्थ्यांना नवीकरणीय ऊर्जेचे ज्ञान मिळते.- ऊर्जा संवर्धनाची जाणीव निर्माण होते.- शाळेचा वीज खर्च कमी होतो.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40732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5913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प्लास्टिकमुक्त परिसर</a:t>
            </a:r>
            <a:endParaRPr lang="en-IN" sz="4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0482" name="Picture 2" descr="C:\Users\SFHS\Downloads\WhatsApp Image 2026-07-29 at 12.01.30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76400"/>
            <a:ext cx="5892800" cy="2438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23950" y="4876800"/>
            <a:ext cx="723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sz="2000" b="1" i="1" dirty="0"/>
              <a:t>"प्लास्टिकचा वापर कमी करणे, कापडी पिशव्यांचा वापर, कचऱ्याचे योग्य व्यवस्थापन आणि जनजागृतीद्वारे प्लास्टिकमुक्त शाळेचा संकल्प साकार केला जातो."</a:t>
            </a:r>
            <a:endParaRPr lang="en-IN" sz="2000" b="1" i="1" dirty="0"/>
          </a:p>
        </p:txBody>
      </p:sp>
    </p:spTree>
    <p:extLst>
      <p:ext uri="{BB962C8B-B14F-4D97-AF65-F5344CB8AC3E}">
        <p14:creationId xmlns:p14="http://schemas.microsoft.com/office/powerpoint/2010/main" val="141701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3627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वृक्षारोपण</a:t>
            </a:r>
            <a:endParaRPr lang="en-IN" sz="4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3074" name="Picture 2" descr="C:\Users\SFHS\Downloads\WhatsApp Image 2026-07-29 at 12.01.50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495800"/>
            <a:ext cx="7086600" cy="20478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3075" name="Picture 3" descr="C:\Users\SFHS\Downloads\WhatsApp Image 2026-07-29 at 12.03.26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447800"/>
            <a:ext cx="3124200" cy="18288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3076" name="Picture 4" descr="C:\Users\SFHS\Downloads\WhatsApp Image 2026-07-29 at 12.03.47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3191976" cy="18288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sp>
        <p:nvSpPr>
          <p:cNvPr id="4" name="TextBox 3"/>
          <p:cNvSpPr txBox="1"/>
          <p:nvPr/>
        </p:nvSpPr>
        <p:spPr>
          <a:xfrm>
            <a:off x="838200" y="3648075"/>
            <a:ext cx="723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b="1" i="1" dirty="0"/>
              <a:t>"‘एक पेड माँ के नाम’ उपक्रमांतर्गत प्रत्येक विद्यार्थ्याने आईच्या सन्मानार्थ वृक्षारोपण करून पर्यावरण संवर्धनाचा संदेश दिला."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9237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5151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mr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कचरा व्यवस्थापन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7170" name="Picture 2" descr="C:\Users\SFHS\Downloads\WhatsApp Image 2026-07-29 at 12.01.30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3276600" cy="24003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 descr="C:\Users\SFHS\Downloads\WhatsApp Image 2026-07-29 at 13.01.47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4" y="4467701"/>
            <a:ext cx="3419475" cy="223742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5" name="Picture 7" descr="C:\Users\SFHS\Downloads\WhatsApp Image 2026-07-29 at 13.01.46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175" y="4495800"/>
            <a:ext cx="3352800" cy="21812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:\Users\SFHS\Downloads\WhatsApp Image 2026-07-29 at 12.57.47.jpe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175" y="1200150"/>
            <a:ext cx="3352800" cy="2286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66800" y="3636704"/>
            <a:ext cx="7191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sz="1600" b="1" i="1" dirty="0"/>
              <a:t>"ओला व सुका कचरा वेगळा करून त्याचे योग्य व्यवस्थापन केले जाते. स्वच्छ व पर्यावरणपूरक शालेय परिसरासाठी विद्यार्थ्यांमध्ये स्वच्छतेच्या सवयी रुजविल्या जातात."</a:t>
            </a:r>
            <a:endParaRPr lang="en-IN" sz="1600" b="1" i="1" dirty="0"/>
          </a:p>
        </p:txBody>
      </p:sp>
    </p:spTree>
    <p:extLst>
      <p:ext uri="{BB962C8B-B14F-4D97-AF65-F5344CB8AC3E}">
        <p14:creationId xmlns:p14="http://schemas.microsoft.com/office/powerpoint/2010/main" val="29646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Kitchen Garden /</a:t>
            </a:r>
            <a:r>
              <a:rPr lang="mr-IN" sz="4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परसबाग</a:t>
            </a:r>
            <a:endParaRPr lang="en-IN" sz="4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5123" name="Picture 3" descr="C:\Users\SFHS\Downloads\WhatsApp Image 2026-07-29 at 12.02.18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599" y="1922883"/>
            <a:ext cx="2743201" cy="26296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C:\Users\SFHS\Downloads\WhatsApp Image 2026-07-29 at 12.26.40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22883"/>
            <a:ext cx="2819400" cy="26296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C:\Users\SFHS\Downloads\WhatsApp Image 2026-07-29 at 12.56.40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533" y="2132818"/>
            <a:ext cx="2929467" cy="2209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24349" y="5030569"/>
            <a:ext cx="7213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mr-IN" dirty="0"/>
              <a:t>"</a:t>
            </a:r>
            <a:r>
              <a:rPr lang="mr-IN" b="1" i="1" dirty="0"/>
              <a:t>शालेय बाजार उपक्रमाद्वारे विद्यार्थ्यांनी प्रत्यक्ष विक्री-विकत, व्यवहार, संवाद </a:t>
            </a:r>
            <a:endParaRPr lang="en-IN" b="1" i="1" dirty="0" smtClean="0"/>
          </a:p>
          <a:p>
            <a:pPr algn="ctr"/>
            <a:r>
              <a:rPr lang="mr-IN" b="1" i="1" dirty="0" smtClean="0"/>
              <a:t>कौशल्य </a:t>
            </a:r>
            <a:r>
              <a:rPr lang="mr-IN" b="1" i="1" dirty="0"/>
              <a:t>आणि उद्योजकतेचे मूलभूत धडे अनुभवातून शिकले."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64281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3627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Eco Club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4099" name="Picture 3" descr="C:\Users\SFHS\Downloads\WhatsApp Image 2026-07-29 at 11.55.57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4267200" cy="25717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SFHS\Downloads\WhatsApp Image 2026-07-29 at 11.56.12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914400"/>
            <a:ext cx="3810000" cy="24384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Users\SFHS\Downloads\WhatsApp Image 2026-07-29 at 11.56.26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4476750"/>
            <a:ext cx="4267200" cy="23431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SFHS\Downloads\WhatsApp Image 2026-03-30 at 14.55.50.jpe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419600"/>
            <a:ext cx="3810000" cy="23431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3400" y="3581400"/>
            <a:ext cx="784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b="1" dirty="0"/>
              <a:t>"शाळेत </a:t>
            </a:r>
            <a:r>
              <a:rPr lang="en-IN" b="1" dirty="0"/>
              <a:t>Eco Club </a:t>
            </a:r>
            <a:r>
              <a:rPr lang="mr-IN" b="1" dirty="0"/>
              <a:t>ची स्थापना करून विद्यार्थ्यांमध्ये पर्यावरण संरक्षण, जैवविविधतेचे संवर्धन आणि शाश्वत जीवनशैलीबाबत जागरूकता निर्माण केली जाते."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9633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591312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“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kkGsph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;”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kksxkFkk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o`Rri</a:t>
            </a: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=</a:t>
            </a:r>
            <a:r>
              <a:rPr lang="en-IN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kOnkjs</a:t>
            </a:r>
            <a:endParaRPr lang="en-IN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Kruti Dev 010" pitchFamily="2" charset="0"/>
            </a:endParaRPr>
          </a:p>
        </p:txBody>
      </p:sp>
      <p:pic>
        <p:nvPicPr>
          <p:cNvPr id="2050" name="Picture 2" descr="C:\Users\SFHS\Downloads\WhatsApp Image 2026-03-24 at 15.34.06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281112"/>
            <a:ext cx="31623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SFHS\Downloads\WhatsApp Image 2026-02-26 at 21.35.19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1281113"/>
            <a:ext cx="2381248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SFHS\Downloads\WhatsApp Image 2026-07-29 at 16.28.27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62" y="3859280"/>
            <a:ext cx="3239138" cy="272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SFHS\Downloads\WhatsApp Image 2026-07-29 at 16.30.02.jpe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9" r="8635" b="13095"/>
          <a:stretch/>
        </p:blipFill>
        <p:spPr bwMode="auto">
          <a:xfrm>
            <a:off x="3819524" y="3887856"/>
            <a:ext cx="2081212" cy="272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:\Users\SFHS\Downloads\WhatsApp Image 2026-07-29 at 16.33.41.jpe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9" y="1281112"/>
            <a:ext cx="2547937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SFHS\Downloads\WhatsApp Image 2026-07-29 at 16.34.27.jpe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887856"/>
            <a:ext cx="2838449" cy="269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2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65" y="990600"/>
            <a:ext cx="8305800" cy="1143000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IN" sz="8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/</a:t>
            </a:r>
            <a:r>
              <a:rPr lang="en-IN" sz="88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Kruti Dev 010" pitchFamily="2" charset="0"/>
              </a:rPr>
              <a:t>kU;okn</a:t>
            </a:r>
            <a:endParaRPr lang="en-IN" sz="8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Kruti Dev 010" pitchFamily="2" charset="0"/>
            </a:endParaRPr>
          </a:p>
        </p:txBody>
      </p:sp>
      <p:pic>
        <p:nvPicPr>
          <p:cNvPr id="3074" name="Picture 2" descr="C:\Users\SFHS\Downloads\WhatsApp Image 2026-07-29 at 16.36.44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2362200"/>
            <a:ext cx="6728131" cy="3276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27134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853</TotalTime>
  <Words>1193</Words>
  <Application>Microsoft Office PowerPoint</Application>
  <PresentationFormat>On-screen Show (4:3)</PresentationFormat>
  <Paragraphs>131</Paragraphs>
  <Slides>49</Slides>
  <Notes>4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Flow</vt:lpstr>
      <vt:lpstr>fi +,e +Jh + lkfo=hckbZ Qqys mPp izkFkfed o ek/;fed “kkGk euik] panziqj</vt:lpstr>
      <vt:lpstr>vH;kldze ] v/;kiu”kkL= o ewY;ekiu</vt:lpstr>
      <vt:lpstr>Learning Outcomes</vt:lpstr>
      <vt:lpstr>FLN (Foundational Literacy &amp; Numeracy) ik;kHkqr lk{kjrk vkf.k la[;kKku</vt:lpstr>
      <vt:lpstr>  Competency Based Learning vuqHkok/kkfjr ] d`rhvk/kkfjr o izdYik/fjr v/;kiu</vt:lpstr>
      <vt:lpstr>Lkekos'kd f”k{k.k (CWSN, eqyh]oafpr xV ) Remedial o Enrichment dk;ZØe </vt:lpstr>
      <vt:lpstr>Student Strength fo|kFkhZ iVla[;k</vt:lpstr>
      <vt:lpstr>fuiq.k egkjk’Vz pkp.kh o PAT ijh{kk MsVk </vt:lpstr>
      <vt:lpstr>Ikk;kHkwr lqfo/kk o fMftVy f”k{k.k (Infrastructure &amp; technology)</vt:lpstr>
      <vt:lpstr>  Smart classroom fMftVy f”k{k.k</vt:lpstr>
      <vt:lpstr>ICT Lab</vt:lpstr>
      <vt:lpstr>fMftVy f”k{k.k</vt:lpstr>
      <vt:lpstr>QR Code vk/kkfjr v/;kiu </vt:lpstr>
      <vt:lpstr>xzaFkky; </vt:lpstr>
      <vt:lpstr>foKku o xf.kr iz;ksx”kkGk  </vt:lpstr>
      <vt:lpstr>fnO;kax vuqqdwy lqfo/kk</vt:lpstr>
      <vt:lpstr>ekuo lalk/ku vkf.k “kkys; usr`Ro</vt:lpstr>
      <vt:lpstr>f“k{kdkaph eatqj o dk;Zjr ins-</vt:lpstr>
      <vt:lpstr>f“k{kdkapk O;olkf;d fodkl-</vt:lpstr>
      <vt:lpstr>fo|kFkhZ dsfaaaaaaaaanzr miØe- </vt:lpstr>
      <vt:lpstr>okpu o xf.kr izkfo.;kr lq/kkj.kk f”k’;o`Rrh∕Li/kkZ ijh{kkarhy ;”k</vt:lpstr>
      <vt:lpstr>LkkaLd`frd {ks=krhy ;”k- </vt:lpstr>
      <vt:lpstr>Lkekos'kd i/nrh vkf.k fyax lekurk</vt:lpstr>
      <vt:lpstr>POCSO  tkx#drk dk;ZØe]cky lja{k.k lferh]</vt:lpstr>
      <vt:lpstr>Ckky lja{k.k lferh</vt:lpstr>
      <vt:lpstr>lqjf{kr rØkj fuokj.k O;oLFkk]vkjksX; o ekufld leqins”ku</vt:lpstr>
      <vt:lpstr>LoPN o lqjf{kr ifjlj</vt:lpstr>
      <vt:lpstr>vkjksX; o fd”kksjo;hu ekxZn”kZu]</vt:lpstr>
      <vt:lpstr>ØhMk o usr`Rokr lgHkkx</vt:lpstr>
      <vt:lpstr>शिक्षक क्षमता विकास व प्रभावी नेतृत्व  (Teacher Capacity Building &amp; School Leadership)</vt:lpstr>
      <vt:lpstr>CDP प्रशिक्षण, ऑनलाइन प्रशिक्षण सहभाग,</vt:lpstr>
      <vt:lpstr>शिक्षकाने कृतीसंशोधन / नवोपक्रम,</vt:lpstr>
      <vt:lpstr>शैक्षणिक नियोजन.</vt:lpstr>
      <vt:lpstr>समुदाय सहभाग व उत्तम शालेय व्यवस्थापन  (Community Participation &amp; Governance) </vt:lpstr>
      <vt:lpstr>SMC ची भूमिका,</vt:lpstr>
      <vt:lpstr>पालक सहभाग,</vt:lpstr>
      <vt:lpstr>माजी विद्यार्थी सहभाग,</vt:lpstr>
      <vt:lpstr>सामाजिक संस्थांचे सहकार्य,</vt:lpstr>
      <vt:lpstr>पारदर्शक व्यवस्थापन</vt:lpstr>
      <vt:lpstr>समुदाय सहभाग व उत्तम शालेय व्यवस्थापन  (Community Participation &amp; Governance) </vt:lpstr>
      <vt:lpstr>जलसंवर्धन, </vt:lpstr>
      <vt:lpstr>सौरऊर्जा</vt:lpstr>
      <vt:lpstr>प्लास्टिकमुक्त परिसर</vt:lpstr>
      <vt:lpstr>वृक्षारोपण</vt:lpstr>
      <vt:lpstr>कचरा व्यवस्थापन</vt:lpstr>
      <vt:lpstr>Kitchen Garden /परसबाग</vt:lpstr>
      <vt:lpstr>Eco Club</vt:lpstr>
      <vt:lpstr>“kkGsph ;”kksxkFkk o`Rri=kOnkjs</vt:lpstr>
      <vt:lpstr>/kU;okn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 + ,e + Jh + lkfo=hckbZ Qqys mPp izkFkfed o ek/;fed “kkGk euik] panziqj</dc:title>
  <dc:creator>SFHS</dc:creator>
  <cp:lastModifiedBy>SFHS</cp:lastModifiedBy>
  <cp:revision>76</cp:revision>
  <cp:lastPrinted>2026-07-29T11:12:11Z</cp:lastPrinted>
  <dcterms:created xsi:type="dcterms:W3CDTF">2006-08-16T00:00:00Z</dcterms:created>
  <dcterms:modified xsi:type="dcterms:W3CDTF">2026-08-03T08:09:31Z</dcterms:modified>
</cp:coreProperties>
</file>